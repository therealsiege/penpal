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2" r:id="rId5"/>
    <p:sldMasterId id="2147483683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y="5143500" cx="9144000"/>
  <p:notesSz cx="6858000" cy="9144000"/>
  <p:embeddedFontLst>
    <p:embeddedFont>
      <p:font typeface="Cairo SemiBold"/>
      <p:regular r:id="rId40"/>
      <p:bold r:id="rId41"/>
    </p:embeddedFont>
    <p:embeddedFont>
      <p:font typeface="Poppins"/>
      <p:regular r:id="rId42"/>
      <p:bold r:id="rId43"/>
      <p:italic r:id="rId44"/>
      <p:boldItalic r:id="rId45"/>
    </p:embeddedFont>
    <p:embeddedFont>
      <p:font typeface="Cairo"/>
      <p:regular r:id="rId46"/>
      <p:bold r:id="rId47"/>
    </p:embeddedFont>
    <p:embeddedFont>
      <p:font typeface="Poppins Medium"/>
      <p:regular r:id="rId48"/>
      <p:bold r:id="rId49"/>
      <p:italic r:id="rId50"/>
      <p:boldItalic r:id="rId51"/>
    </p:embeddedFont>
    <p:embeddedFont>
      <p:font typeface="Poppins SemiBold"/>
      <p:regular r:id="rId52"/>
      <p:bold r:id="rId53"/>
      <p:italic r:id="rId54"/>
      <p:boldItalic r:id="rId55"/>
    </p:embeddedFont>
    <p:embeddedFont>
      <p:font typeface="Helvetica Neue Light"/>
      <p:regular r:id="rId56"/>
      <p:bold r:id="rId57"/>
      <p:italic r:id="rId58"/>
      <p:boldItalic r:id="rId59"/>
    </p:embeddedFont>
    <p:embeddedFont>
      <p:font typeface="Courier Prime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04789C-9DAA-4647-B804-00F09051721B}">
  <a:tblStyle styleId="{5804789C-9DAA-4647-B804-00F0905172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CairoSemiBold-regular.fntdata"/><Relationship Id="rId42" Type="http://schemas.openxmlformats.org/officeDocument/2006/relationships/font" Target="fonts/Poppins-regular.fntdata"/><Relationship Id="rId41" Type="http://schemas.openxmlformats.org/officeDocument/2006/relationships/font" Target="fonts/CairoSemiBold-bold.fntdata"/><Relationship Id="rId44" Type="http://schemas.openxmlformats.org/officeDocument/2006/relationships/font" Target="fonts/Poppins-italic.fntdata"/><Relationship Id="rId43" Type="http://schemas.openxmlformats.org/officeDocument/2006/relationships/font" Target="fonts/Poppins-bold.fntdata"/><Relationship Id="rId46" Type="http://schemas.openxmlformats.org/officeDocument/2006/relationships/font" Target="fonts/Cairo-regular.fntdata"/><Relationship Id="rId45" Type="http://schemas.openxmlformats.org/officeDocument/2006/relationships/font" Target="fonts/Poppi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PoppinsMedium-regular.fntdata"/><Relationship Id="rId47" Type="http://schemas.openxmlformats.org/officeDocument/2006/relationships/font" Target="fonts/Cairo-bold.fntdata"/><Relationship Id="rId49" Type="http://schemas.openxmlformats.org/officeDocument/2006/relationships/font" Target="fonts/PoppinsMedium-bold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CourierPrime-italic.fntdata"/><Relationship Id="rId61" Type="http://schemas.openxmlformats.org/officeDocument/2006/relationships/font" Target="fonts/CourierPrime-bold.fntdata"/><Relationship Id="rId20" Type="http://schemas.openxmlformats.org/officeDocument/2006/relationships/slide" Target="slides/slide13.xml"/><Relationship Id="rId63" Type="http://schemas.openxmlformats.org/officeDocument/2006/relationships/font" Target="fonts/CourierPrime-boldItalic.fntdata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0" Type="http://schemas.openxmlformats.org/officeDocument/2006/relationships/font" Target="fonts/CourierPrime-regular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PoppinsMedium-boldItalic.fntdata"/><Relationship Id="rId50" Type="http://schemas.openxmlformats.org/officeDocument/2006/relationships/font" Target="fonts/PoppinsMedium-italic.fntdata"/><Relationship Id="rId53" Type="http://schemas.openxmlformats.org/officeDocument/2006/relationships/font" Target="fonts/PoppinsSemiBold-bold.fntdata"/><Relationship Id="rId52" Type="http://schemas.openxmlformats.org/officeDocument/2006/relationships/font" Target="fonts/PoppinsSemiBold-regular.fntdata"/><Relationship Id="rId11" Type="http://schemas.openxmlformats.org/officeDocument/2006/relationships/slide" Target="slides/slide4.xml"/><Relationship Id="rId55" Type="http://schemas.openxmlformats.org/officeDocument/2006/relationships/font" Target="fonts/PoppinsSemiBold-boldItalic.fntdata"/><Relationship Id="rId10" Type="http://schemas.openxmlformats.org/officeDocument/2006/relationships/slide" Target="slides/slide3.xml"/><Relationship Id="rId54" Type="http://schemas.openxmlformats.org/officeDocument/2006/relationships/font" Target="fonts/PoppinsSemiBold-italic.fntdata"/><Relationship Id="rId13" Type="http://schemas.openxmlformats.org/officeDocument/2006/relationships/slide" Target="slides/slide6.xml"/><Relationship Id="rId57" Type="http://schemas.openxmlformats.org/officeDocument/2006/relationships/font" Target="fonts/HelveticaNeueLight-bold.fntdata"/><Relationship Id="rId12" Type="http://schemas.openxmlformats.org/officeDocument/2006/relationships/slide" Target="slides/slide5.xml"/><Relationship Id="rId56" Type="http://schemas.openxmlformats.org/officeDocument/2006/relationships/font" Target="fonts/HelveticaNeueLight-regular.fntdata"/><Relationship Id="rId15" Type="http://schemas.openxmlformats.org/officeDocument/2006/relationships/slide" Target="slides/slide8.xml"/><Relationship Id="rId59" Type="http://schemas.openxmlformats.org/officeDocument/2006/relationships/font" Target="fonts/HelveticaNeueLight-boldItalic.fntdata"/><Relationship Id="rId14" Type="http://schemas.openxmlformats.org/officeDocument/2006/relationships/slide" Target="slides/slide7.xml"/><Relationship Id="rId58" Type="http://schemas.openxmlformats.org/officeDocument/2006/relationships/font" Target="fonts/HelveticaNeueLight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9ca6095f6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9ca6095f6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99ca6095f6_0_7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99ca6095f6_0_7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9ca6095f6_0_2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99ca6095f6_0_2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[Title slide]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Good morning, and Welcome to PlumCon!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Thank you all so much for being here. This is our first annual conference, and I’m incredibly excited to be with you all today.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9ca6095f6_0_1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99ca6095f6_0_1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99ca6095f6_0_1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99ca6095f6_0_1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99ca6095f6_0_1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99ca6095f6_0_1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99ca6095f6_0_1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99ca6095f6_0_1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99ca6095f6_0_1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399ca6095f6_0_1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99ca6095f6_0_1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99ca6095f6_0_1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9ca6095f6_0_1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399ca6095f6_0_1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9ca6095f6_0_13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99ca6095f6_0_1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99ca6095f6_0_1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399ca6095f6_0_1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9ca6095f6_0_1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99ca6095f6_0_1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399ca6095f6_0_16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5" name="Google Shape;335;g399ca6095f6_0_16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99ca6095f6_0_1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99ca6095f6_0_1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[Title slide]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Good morning, and Welcome to PlumCon!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Thank you all so much for being here. This is our first annual conference, and I’m incredibly excited to be with you all today.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99ca6095f6_0_1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99ca6095f6_0_1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99ca6095f6_0_1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99ca6095f6_0_1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99ca6095f6_0_18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399ca6095f6_0_18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99ca6095f6_0_18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99ca6095f6_0_18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99ca6095f6_0_18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399ca6095f6_0_18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99ca6095f6_0_1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99ca6095f6_0_1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99ca6095f6_0_19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99ca6095f6_0_19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399ca6095f6_0_1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399ca6095f6_0_1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[Title slide]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Good morning, and Welcome to PlumCon!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Thank you all so much for being here. This is our first annual conference, and I’m incredibly excited to be with you all today.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99ca6095f6_0_1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399ca6095f6_0_1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99ca6095f6_0_19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99ca6095f6_0_19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99ca6095f6_0_1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99ca6095f6_0_1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[Title slide]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Good morning, and Welcome to PlumCon!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Thank you all so much for being here. This is our first annual conference, and I’m incredibly excited to be with you all today.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399ca6095f6_0_19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1" name="Google Shape;451;g399ca6095f6_0_19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99ca6095f6_0_19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99ca6095f6_0_19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99ca6095f6_0_19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99ca6095f6_0_19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99ca6095f6_0_19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99ca6095f6_0_19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99ca6095f6_0_3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399ca6095f6_0_3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99ca6095f6_0_19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99ca6095f6_0_19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Subtitle" type="title">
  <p:cSld name="TITLE">
    <p:bg>
      <p:bgPr>
        <a:solidFill>
          <a:schemeClr val="accent6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540388" y="4652050"/>
            <a:ext cx="333600" cy="138600"/>
          </a:xfrm>
          <a:prstGeom prst="rect">
            <a:avLst/>
          </a:prstGeom>
          <a:effectLst>
            <a:outerShdw blurRad="57150" rotWithShape="0" algn="bl" dir="5400000" dist="19050">
              <a:srgbClr val="000000">
                <a:alpha val="50000"/>
              </a:srgbClr>
            </a:outerShdw>
            <a:reflection blurRad="0" dir="5400000" dist="38100" endA="0" fadeDir="5400012" kx="0" rotWithShape="0" algn="bl" stPos="0" sy="-100000" ky="0"/>
          </a:effectLst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 algn="r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 algn="r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 algn="r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 algn="r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 algn="r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 algn="r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 algn="r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 algn="r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p14"/>
          <p:cNvSpPr txBox="1"/>
          <p:nvPr/>
        </p:nvSpPr>
        <p:spPr>
          <a:xfrm>
            <a:off x="3167300" y="113675"/>
            <a:ext cx="4228800" cy="11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Build your own </a:t>
            </a:r>
            <a:b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b="0" lang="en" sz="30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EHR Integrating using Open Source</a:t>
            </a:r>
            <a:endParaRPr b="0" sz="30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55" name="Google Shape;55;p14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45975"/>
            <a:ext cx="1311652" cy="28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6" name="Google Shape;56;p14"/>
          <p:cNvGrpSpPr/>
          <p:nvPr/>
        </p:nvGrpSpPr>
        <p:grpSpPr>
          <a:xfrm>
            <a:off x="7933350" y="4501425"/>
            <a:ext cx="990300" cy="325525"/>
            <a:chOff x="3188350" y="2350300"/>
            <a:chExt cx="990300" cy="325525"/>
          </a:xfrm>
        </p:grpSpPr>
        <p:sp>
          <p:nvSpPr>
            <p:cNvPr id="57" name="Google Shape;57;p14"/>
            <p:cNvSpPr/>
            <p:nvPr/>
          </p:nvSpPr>
          <p:spPr>
            <a:xfrm>
              <a:off x="3188350" y="2392325"/>
              <a:ext cx="990300" cy="283500"/>
            </a:xfrm>
            <a:prstGeom prst="roundRect">
              <a:avLst>
                <a:gd fmla="val 16667" name="adj"/>
              </a:avLst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14"/>
            <p:cNvSpPr txBox="1"/>
            <p:nvPr/>
          </p:nvSpPr>
          <p:spPr>
            <a:xfrm>
              <a:off x="3188350" y="2350300"/>
              <a:ext cx="9903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Webinar</a:t>
              </a:r>
              <a:endPara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59" name="Google Shape;59;p14"/>
          <p:cNvSpPr txBox="1"/>
          <p:nvPr/>
        </p:nvSpPr>
        <p:spPr>
          <a:xfrm>
            <a:off x="3073400" y="4597650"/>
            <a:ext cx="2426700" cy="2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Poppins"/>
                <a:ea typeface="Poppins"/>
                <a:cs typeface="Poppins"/>
                <a:sym typeface="Poppins"/>
              </a:rPr>
              <a:t>Sep 21, 2023–1pm PT, 4pm ET</a:t>
            </a:r>
            <a:endParaRPr sz="12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" type="tx">
  <p:cSld name="TITLE_AND_BOD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15"/>
          <p:cNvGrpSpPr/>
          <p:nvPr/>
        </p:nvGrpSpPr>
        <p:grpSpPr>
          <a:xfrm>
            <a:off x="4792950" y="4395575"/>
            <a:ext cx="990300" cy="325525"/>
            <a:chOff x="4792950" y="4547975"/>
            <a:chExt cx="990300" cy="325525"/>
          </a:xfrm>
        </p:grpSpPr>
        <p:sp>
          <p:nvSpPr>
            <p:cNvPr id="62" name="Google Shape;62;p15"/>
            <p:cNvSpPr/>
            <p:nvPr/>
          </p:nvSpPr>
          <p:spPr>
            <a:xfrm>
              <a:off x="4792950" y="4590000"/>
              <a:ext cx="990300" cy="283500"/>
            </a:xfrm>
            <a:prstGeom prst="roundRect">
              <a:avLst>
                <a:gd fmla="val 16667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" name="Google Shape;63;p15"/>
            <p:cNvSpPr txBox="1"/>
            <p:nvPr/>
          </p:nvSpPr>
          <p:spPr>
            <a:xfrm>
              <a:off x="4792950" y="4547975"/>
              <a:ext cx="990300" cy="28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accent1"/>
                  </a:solidFill>
                  <a:latin typeface="Poppins"/>
                  <a:ea typeface="Poppins"/>
                  <a:cs typeface="Poppins"/>
                  <a:sym typeface="Poppins"/>
                </a:rPr>
                <a:t>Webinar</a:t>
              </a:r>
              <a:endParaRPr sz="1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sp>
        <p:nvSpPr>
          <p:cNvPr id="64" name="Google Shape;64;p15"/>
          <p:cNvSpPr/>
          <p:nvPr/>
        </p:nvSpPr>
        <p:spPr>
          <a:xfrm>
            <a:off x="0" y="0"/>
            <a:ext cx="4568100" cy="51435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5"/>
          <p:cNvSpPr txBox="1"/>
          <p:nvPr/>
        </p:nvSpPr>
        <p:spPr>
          <a:xfrm>
            <a:off x="220350" y="180000"/>
            <a:ext cx="3570300" cy="96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Build your own </a:t>
            </a:r>
            <a:b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b="0" lang="en"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EHR Integrating using Open Source</a:t>
            </a:r>
            <a:endParaRPr b="0" sz="2400">
              <a:solidFill>
                <a:schemeClr val="dk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66" name="Google Shape;66;p15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322455" y="4451315"/>
            <a:ext cx="990301" cy="214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 title="img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496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title="img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224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title="img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95250" y="270000"/>
            <a:ext cx="876900" cy="8769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 txBox="1"/>
          <p:nvPr/>
        </p:nvSpPr>
        <p:spPr>
          <a:xfrm>
            <a:off x="46317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Alex Goel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CEO Technology Health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61045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Reshma Khilnani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CEO Medplum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7559800" y="1261025"/>
            <a:ext cx="1312800" cy="2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Johs Leben</a:t>
            </a:r>
            <a:endParaRPr sz="800">
              <a:solidFill>
                <a:schemeClr val="accen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CTO Topology Health</a:t>
            </a:r>
            <a:endParaRPr sz="8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73" name="Google Shape;73;p15" title="log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36668" y="4123525"/>
            <a:ext cx="594075" cy="597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bg>
      <p:bgPr>
        <a:solidFill>
          <a:schemeClr val="accent5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6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3167325" y="1920150"/>
            <a:ext cx="3692400" cy="130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source/demos of these today!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157025" y="1954275"/>
            <a:ext cx="858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bg>
      <p:bgPr>
        <a:solidFill>
          <a:schemeClr val="accent3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7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7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3167325" y="1920150"/>
            <a:ext cx="3692400" cy="78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157025" y="1954275"/>
            <a:ext cx="14460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 1">
  <p:cSld name="Blank_2_1">
    <p:bg>
      <p:bgPr>
        <a:solidFill>
          <a:schemeClr val="lt2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8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3167325" y="2066775"/>
            <a:ext cx="36924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88" name="Google Shape;88;p18"/>
          <p:cNvSpPr txBox="1"/>
          <p:nvPr/>
        </p:nvSpPr>
        <p:spPr>
          <a:xfrm>
            <a:off x="157025" y="1954275"/>
            <a:ext cx="1536900" cy="61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6500">
              <a:solidFill>
                <a:srgbClr val="FFFFFF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">
  <p:cSld name="Blank_1_1_1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source/demos of these today!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1" name="Google Shape;91;p19"/>
          <p:cNvSpPr txBox="1"/>
          <p:nvPr/>
        </p:nvSpPr>
        <p:spPr>
          <a:xfrm>
            <a:off x="8163125" y="180000"/>
            <a:ext cx="8190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92" name="Google Shape;92;p19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9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">
  <p:cSld name="Blank_1_1_1_1">
    <p:bg>
      <p:bgPr>
        <a:solidFill>
          <a:schemeClr val="accent4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20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7" name="Google Shape;97;p20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98" name="Google Shape;98;p20"/>
          <p:cNvSpPr txBox="1"/>
          <p:nvPr/>
        </p:nvSpPr>
        <p:spPr>
          <a:xfrm>
            <a:off x="7917450" y="180000"/>
            <a:ext cx="10062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">
  <p:cSld name="Blank_1_1_1_1_1">
    <p:bg>
      <p:bgPr>
        <a:solidFill>
          <a:schemeClr val="accent6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21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1"/>
          <p:cNvSpPr txBox="1"/>
          <p:nvPr/>
        </p:nvSpPr>
        <p:spPr>
          <a:xfrm>
            <a:off x="3167325" y="145975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2" name="Google Shape;102;p21"/>
          <p:cNvSpPr txBox="1"/>
          <p:nvPr/>
        </p:nvSpPr>
        <p:spPr>
          <a:xfrm>
            <a:off x="220350" y="2103450"/>
            <a:ext cx="6041400" cy="72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3" name="Google Shape;103;p21"/>
          <p:cNvSpPr txBox="1"/>
          <p:nvPr/>
        </p:nvSpPr>
        <p:spPr>
          <a:xfrm>
            <a:off x="7975975" y="180000"/>
            <a:ext cx="10062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6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">
  <p:cSld name="Blank_1_1_1_1_1_1">
    <p:bg>
      <p:bgPr>
        <a:solidFill>
          <a:schemeClr val="lt1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/>
        </p:nvSpPr>
        <p:spPr>
          <a:xfrm>
            <a:off x="177275" y="1799150"/>
            <a:ext cx="72729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 will show source/ demos of these today!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06" name="Google Shape;106;p22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07" name="Google Shape;107;p22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2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">
  <p:cSld name="Blank_1_1_1_1_1_1_1">
    <p:bg>
      <p:bgPr>
        <a:solidFill>
          <a:schemeClr val="accent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3"/>
          <p:cNvSpPr txBox="1"/>
          <p:nvPr/>
        </p:nvSpPr>
        <p:spPr>
          <a:xfrm>
            <a:off x="177275" y="1799150"/>
            <a:ext cx="6459600" cy="1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Epic Backend System Connect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1" name="Google Shape;111;p23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12" name="Google Shape;112;p23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3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">
  <p:cSld name="Blank_1_1_1_1_1_1_1_1">
    <p:bg>
      <p:bgPr>
        <a:solidFill>
          <a:schemeClr val="accent6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4"/>
          <p:cNvSpPr txBox="1"/>
          <p:nvPr/>
        </p:nvSpPr>
        <p:spPr>
          <a:xfrm>
            <a:off x="177275" y="1799150"/>
            <a:ext cx="6459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HL7 Handing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16" name="Google Shape;116;p24"/>
          <p:cNvSpPr txBox="1"/>
          <p:nvPr/>
        </p:nvSpPr>
        <p:spPr>
          <a:xfrm>
            <a:off x="187300" y="208325"/>
            <a:ext cx="984300" cy="4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b="0" sz="5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117" name="Google Shape;117;p24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4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 1">
  <p:cSld name="Blank_1_1_1_1_1_1_1_1_1">
    <p:bg>
      <p:bgPr>
        <a:solidFill>
          <a:schemeClr val="accent2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5"/>
          <p:cNvSpPr txBox="1"/>
          <p:nvPr/>
        </p:nvSpPr>
        <p:spPr>
          <a:xfrm>
            <a:off x="3188350" y="1714505"/>
            <a:ext cx="4230600" cy="17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Medplum offers FHIR infrastructure with integrated IDP, integration tools and flexible deployment options</a:t>
            </a:r>
            <a:endParaRPr sz="2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1" name="Google Shape;121;p25" title="medplum logo_white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70000" y="1714509"/>
            <a:ext cx="818899" cy="176998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5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 1 1 1 1 1 1 1 1">
  <p:cSld name="Blank_1_1_1_1_1_1_1_1_1_1">
    <p:bg>
      <p:bgPr>
        <a:solidFill>
          <a:schemeClr val="dk2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6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180000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6"/>
          <p:cNvSpPr txBox="1"/>
          <p:nvPr/>
        </p:nvSpPr>
        <p:spPr>
          <a:xfrm>
            <a:off x="3167325" y="220975"/>
            <a:ext cx="4282800" cy="17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Medplum offers FHIR infrastructure with integrated IDP, integration tools and flexible deployment options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6" name="Google Shape;126;p26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7"/>
          <p:cNvSpPr/>
          <p:nvPr/>
        </p:nvSpPr>
        <p:spPr>
          <a:xfrm>
            <a:off x="2332325" y="179788"/>
            <a:ext cx="6591300" cy="1385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7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7"/>
          <p:cNvSpPr txBox="1"/>
          <p:nvPr/>
        </p:nvSpPr>
        <p:spPr>
          <a:xfrm>
            <a:off x="220350" y="180000"/>
            <a:ext cx="1463100" cy="10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Scaling Tiers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1" name="Google Shape;131;p27"/>
          <p:cNvSpPr/>
          <p:nvPr/>
        </p:nvSpPr>
        <p:spPr>
          <a:xfrm>
            <a:off x="2332325" y="3114150"/>
            <a:ext cx="6591300" cy="1385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" name="Google Shape;132;p27"/>
          <p:cNvCxnSpPr/>
          <p:nvPr/>
        </p:nvCxnSpPr>
        <p:spPr>
          <a:xfrm>
            <a:off x="4187750" y="439438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3" name="Google Shape;133;p27"/>
          <p:cNvCxnSpPr/>
          <p:nvPr/>
        </p:nvCxnSpPr>
        <p:spPr>
          <a:xfrm>
            <a:off x="6114275" y="439438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4" name="Google Shape;134;p27"/>
          <p:cNvSpPr txBox="1"/>
          <p:nvPr/>
        </p:nvSpPr>
        <p:spPr>
          <a:xfrm>
            <a:off x="6368375" y="508075"/>
            <a:ext cx="1566600" cy="58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+$4K</a:t>
            </a:r>
            <a:endParaRPr sz="4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27"/>
          <p:cNvSpPr txBox="1"/>
          <p:nvPr/>
        </p:nvSpPr>
        <p:spPr>
          <a:xfrm>
            <a:off x="7884850" y="839375"/>
            <a:ext cx="819000" cy="23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/ month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6" name="Google Shape;136;p27"/>
          <p:cNvSpPr txBox="1"/>
          <p:nvPr/>
        </p:nvSpPr>
        <p:spPr>
          <a:xfrm>
            <a:off x="4503188" y="702175"/>
            <a:ext cx="1425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2M-3M Patients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7" name="Google Shape;137;p27"/>
          <p:cNvSpPr txBox="1"/>
          <p:nvPr/>
        </p:nvSpPr>
        <p:spPr>
          <a:xfrm>
            <a:off x="2938550" y="709825"/>
            <a:ext cx="5835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Tier 1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38" name="Google Shape;138;p27"/>
          <p:cNvGrpSpPr/>
          <p:nvPr/>
        </p:nvGrpSpPr>
        <p:grpSpPr>
          <a:xfrm>
            <a:off x="2332325" y="1646975"/>
            <a:ext cx="6591300" cy="1385100"/>
            <a:chOff x="2332325" y="1613813"/>
            <a:chExt cx="6591300" cy="1385100"/>
          </a:xfrm>
        </p:grpSpPr>
        <p:sp>
          <p:nvSpPr>
            <p:cNvPr id="139" name="Google Shape;139;p27"/>
            <p:cNvSpPr/>
            <p:nvPr/>
          </p:nvSpPr>
          <p:spPr>
            <a:xfrm>
              <a:off x="2332325" y="1613813"/>
              <a:ext cx="6591300" cy="13851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0" name="Google Shape;140;p27"/>
            <p:cNvCxnSpPr/>
            <p:nvPr/>
          </p:nvCxnSpPr>
          <p:spPr>
            <a:xfrm>
              <a:off x="4187750" y="1873463"/>
              <a:ext cx="0" cy="86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" name="Google Shape;141;p27"/>
            <p:cNvCxnSpPr/>
            <p:nvPr/>
          </p:nvCxnSpPr>
          <p:spPr>
            <a:xfrm>
              <a:off x="6114275" y="1873463"/>
              <a:ext cx="0" cy="86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2" name="Google Shape;142;p27"/>
            <p:cNvSpPr txBox="1"/>
            <p:nvPr/>
          </p:nvSpPr>
          <p:spPr>
            <a:xfrm>
              <a:off x="6386375" y="2037513"/>
              <a:ext cx="1530600" cy="58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4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+$8K</a:t>
              </a:r>
              <a:endParaRPr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3" name="Google Shape;143;p27"/>
            <p:cNvSpPr txBox="1"/>
            <p:nvPr/>
          </p:nvSpPr>
          <p:spPr>
            <a:xfrm>
              <a:off x="7884850" y="2347300"/>
              <a:ext cx="8190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/ month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4" name="Google Shape;144;p27"/>
            <p:cNvSpPr txBox="1"/>
            <p:nvPr/>
          </p:nvSpPr>
          <p:spPr>
            <a:xfrm>
              <a:off x="4503188" y="2231600"/>
              <a:ext cx="1425600" cy="192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3M-4M Patients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145" name="Google Shape;145;p27"/>
            <p:cNvSpPr txBox="1"/>
            <p:nvPr/>
          </p:nvSpPr>
          <p:spPr>
            <a:xfrm>
              <a:off x="2938550" y="2239250"/>
              <a:ext cx="583500" cy="17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chemeClr val="dk1"/>
                  </a:solidFill>
                  <a:latin typeface="Poppins"/>
                  <a:ea typeface="Poppins"/>
                  <a:cs typeface="Poppins"/>
                  <a:sym typeface="Poppins"/>
                </a:rPr>
                <a:t>Tier 2</a:t>
              </a:r>
              <a:endParaRPr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  <p:cxnSp>
        <p:nvCxnSpPr>
          <p:cNvPr id="146" name="Google Shape;146;p27"/>
          <p:cNvCxnSpPr/>
          <p:nvPr/>
        </p:nvCxnSpPr>
        <p:spPr>
          <a:xfrm>
            <a:off x="4187744" y="3373800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7"/>
          <p:cNvCxnSpPr/>
          <p:nvPr/>
        </p:nvCxnSpPr>
        <p:spPr>
          <a:xfrm>
            <a:off x="6114269" y="3373800"/>
            <a:ext cx="0" cy="865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8" name="Google Shape;148;p27"/>
          <p:cNvSpPr txBox="1"/>
          <p:nvPr/>
        </p:nvSpPr>
        <p:spPr>
          <a:xfrm>
            <a:off x="6368375" y="3524150"/>
            <a:ext cx="1624200" cy="5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+$12K</a:t>
            </a:r>
            <a:endParaRPr sz="44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9" name="Google Shape;149;p27"/>
          <p:cNvSpPr txBox="1"/>
          <p:nvPr/>
        </p:nvSpPr>
        <p:spPr>
          <a:xfrm>
            <a:off x="7958251" y="3851600"/>
            <a:ext cx="9654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/ month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0" name="Google Shape;150;p27"/>
          <p:cNvSpPr txBox="1"/>
          <p:nvPr/>
        </p:nvSpPr>
        <p:spPr>
          <a:xfrm>
            <a:off x="4503207" y="3682700"/>
            <a:ext cx="14256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4M-5M Patients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1" name="Google Shape;151;p27"/>
          <p:cNvSpPr txBox="1"/>
          <p:nvPr/>
        </p:nvSpPr>
        <p:spPr>
          <a:xfrm>
            <a:off x="2938550" y="3706100"/>
            <a:ext cx="583500" cy="14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Tier 3</a:t>
            </a:r>
            <a:endParaRPr sz="13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2" name="Google Shape;152;p27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7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">
  <p:cSld name="CUSTOM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8"/>
          <p:cNvSpPr/>
          <p:nvPr/>
        </p:nvSpPr>
        <p:spPr>
          <a:xfrm>
            <a:off x="3167325" y="1985375"/>
            <a:ext cx="5756400" cy="1002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8"/>
          <p:cNvSpPr/>
          <p:nvPr/>
        </p:nvSpPr>
        <p:spPr>
          <a:xfrm>
            <a:off x="3167325" y="823338"/>
            <a:ext cx="5756400" cy="1002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28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Clr>
                <a:srgbClr val="000000"/>
              </a:buClr>
              <a:buSzPts val="900"/>
              <a:buFont typeface="Helvetica Neue Light"/>
              <a:buNone/>
              <a:defRPr/>
            </a:lvl1pPr>
            <a:lvl2pPr lvl="1">
              <a:buClr>
                <a:srgbClr val="000000"/>
              </a:buClr>
              <a:buSzPts val="900"/>
              <a:buFont typeface="Helvetica Neue Light"/>
              <a:buNone/>
              <a:defRPr/>
            </a:lvl2pPr>
            <a:lvl3pPr lvl="2">
              <a:buClr>
                <a:srgbClr val="000000"/>
              </a:buClr>
              <a:buSzPts val="900"/>
              <a:buFont typeface="Helvetica Neue Light"/>
              <a:buNone/>
              <a:defRPr/>
            </a:lvl3pPr>
            <a:lvl4pPr lvl="3">
              <a:buClr>
                <a:srgbClr val="000000"/>
              </a:buClr>
              <a:buSzPts val="900"/>
              <a:buFont typeface="Helvetica Neue Light"/>
              <a:buNone/>
              <a:defRPr/>
            </a:lvl4pPr>
            <a:lvl5pPr lvl="4">
              <a:buClr>
                <a:srgbClr val="000000"/>
              </a:buClr>
              <a:buSzPts val="900"/>
              <a:buFont typeface="Helvetica Neue Light"/>
              <a:buNone/>
              <a:defRPr/>
            </a:lvl5pPr>
            <a:lvl6pPr lvl="5">
              <a:buClr>
                <a:srgbClr val="000000"/>
              </a:buClr>
              <a:buSzPts val="900"/>
              <a:buFont typeface="Helvetica Neue Light"/>
              <a:buNone/>
              <a:defRPr/>
            </a:lvl6pPr>
            <a:lvl7pPr lvl="6">
              <a:buClr>
                <a:srgbClr val="000000"/>
              </a:buClr>
              <a:buSzPts val="900"/>
              <a:buFont typeface="Helvetica Neue Light"/>
              <a:buNone/>
              <a:defRPr/>
            </a:lvl7pPr>
            <a:lvl8pPr lvl="7">
              <a:buClr>
                <a:srgbClr val="000000"/>
              </a:buClr>
              <a:buSzPts val="900"/>
              <a:buFont typeface="Helvetica Neue Light"/>
              <a:buNone/>
              <a:defRPr/>
            </a:lvl8pPr>
            <a:lvl9pPr lvl="8">
              <a:buClr>
                <a:srgbClr val="000000"/>
              </a:buClr>
              <a:buSzPts val="900"/>
              <a:buFont typeface="Helvetica Neue Light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28"/>
          <p:cNvSpPr txBox="1"/>
          <p:nvPr/>
        </p:nvSpPr>
        <p:spPr>
          <a:xfrm>
            <a:off x="220350" y="180000"/>
            <a:ext cx="1463100" cy="11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3 Notable Things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9" name="Google Shape;159;p28"/>
          <p:cNvSpPr/>
          <p:nvPr/>
        </p:nvSpPr>
        <p:spPr>
          <a:xfrm>
            <a:off x="3167325" y="3147425"/>
            <a:ext cx="5756400" cy="1002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28"/>
          <p:cNvSpPr txBox="1"/>
          <p:nvPr/>
        </p:nvSpPr>
        <p:spPr>
          <a:xfrm>
            <a:off x="3167325" y="180000"/>
            <a:ext cx="35157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 Notable Things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3487175" y="1066250"/>
            <a:ext cx="517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01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3417300" y="2196000"/>
            <a:ext cx="733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02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3417300" y="3369425"/>
            <a:ext cx="7335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03</a:t>
            </a:r>
            <a:endParaRPr sz="36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6114275" y="1249250"/>
            <a:ext cx="27672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Server-to-server connections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6114275" y="2308050"/>
            <a:ext cx="2767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Medplum Bot - authenticate via JWT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6114275" y="3481475"/>
            <a:ext cx="27672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Standard-ish FHIR API, similar to Medplum</a:t>
            </a:r>
            <a:endParaRPr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7" name="Google Shape;167;p28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8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9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1" name="Google Shape;171;p29"/>
          <p:cNvSpPr txBox="1"/>
          <p:nvPr/>
        </p:nvSpPr>
        <p:spPr>
          <a:xfrm>
            <a:off x="3134475" y="180000"/>
            <a:ext cx="15618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Demos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220350" y="180000"/>
            <a:ext cx="1463100" cy="11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Demos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3" name="Google Shape;173;p29"/>
          <p:cNvSpPr/>
          <p:nvPr/>
        </p:nvSpPr>
        <p:spPr>
          <a:xfrm>
            <a:off x="220350" y="1435200"/>
            <a:ext cx="2809500" cy="2279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9"/>
          <p:cNvSpPr/>
          <p:nvPr/>
        </p:nvSpPr>
        <p:spPr>
          <a:xfrm>
            <a:off x="3160200" y="1435200"/>
            <a:ext cx="2809500" cy="2279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9"/>
          <p:cNvSpPr/>
          <p:nvPr/>
        </p:nvSpPr>
        <p:spPr>
          <a:xfrm>
            <a:off x="6114275" y="1435200"/>
            <a:ext cx="2809500" cy="2279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29"/>
          <p:cNvSpPr txBox="1"/>
          <p:nvPr/>
        </p:nvSpPr>
        <p:spPr>
          <a:xfrm>
            <a:off x="445650" y="1637400"/>
            <a:ext cx="5175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7" name="Google Shape;177;p29"/>
          <p:cNvSpPr txBox="1"/>
          <p:nvPr/>
        </p:nvSpPr>
        <p:spPr>
          <a:xfrm>
            <a:off x="3385500" y="1637400"/>
            <a:ext cx="7335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8" name="Google Shape;178;p29"/>
          <p:cNvSpPr txBox="1"/>
          <p:nvPr/>
        </p:nvSpPr>
        <p:spPr>
          <a:xfrm>
            <a:off x="6339575" y="1637400"/>
            <a:ext cx="5988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36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445650" y="2849525"/>
            <a:ext cx="23589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Super simple: read a single patient from Epic (backend system)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180" name="Google Shape;180;p29"/>
          <p:cNvCxnSpPr/>
          <p:nvPr/>
        </p:nvCxnSpPr>
        <p:spPr>
          <a:xfrm>
            <a:off x="445650" y="2695275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9"/>
          <p:cNvCxnSpPr/>
          <p:nvPr/>
        </p:nvCxnSpPr>
        <p:spPr>
          <a:xfrm>
            <a:off x="3385500" y="2695275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9"/>
          <p:cNvCxnSpPr/>
          <p:nvPr/>
        </p:nvCxnSpPr>
        <p:spPr>
          <a:xfrm>
            <a:off x="6339575" y="2695850"/>
            <a:ext cx="2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9"/>
          <p:cNvSpPr txBox="1"/>
          <p:nvPr/>
        </p:nvSpPr>
        <p:spPr>
          <a:xfrm>
            <a:off x="3385500" y="2849525"/>
            <a:ext cx="23589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HL7: Process ADT Feed message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4" name="Google Shape;184;p29"/>
          <p:cNvSpPr txBox="1"/>
          <p:nvPr/>
        </p:nvSpPr>
        <p:spPr>
          <a:xfrm>
            <a:off x="6339575" y="2849525"/>
            <a:ext cx="2358900" cy="54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Patient FHIR App: Patient auth and import personal health data</a:t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5" name="Google Shape;185;p29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">
  <p:cSld name="CUSTOM_1_1_1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30"/>
          <p:cNvSpPr txBox="1"/>
          <p:nvPr/>
        </p:nvSpPr>
        <p:spPr>
          <a:xfrm>
            <a:off x="548000" y="1759375"/>
            <a:ext cx="23589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Super Simple 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548000" y="2523374"/>
            <a:ext cx="23589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Read a single patient from Epic (backend system)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3618625" y="2523375"/>
            <a:ext cx="2358900" cy="1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Process ADT Feed message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6460650" y="2523375"/>
            <a:ext cx="19341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Patient auth and import personal health data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3" name="Google Shape;193;p30"/>
          <p:cNvSpPr txBox="1"/>
          <p:nvPr/>
        </p:nvSpPr>
        <p:spPr>
          <a:xfrm>
            <a:off x="191150" y="180000"/>
            <a:ext cx="14631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Demos</a:t>
            </a:r>
            <a:endParaRPr sz="24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194" name="Google Shape;194;p30"/>
          <p:cNvSpPr txBox="1"/>
          <p:nvPr/>
        </p:nvSpPr>
        <p:spPr>
          <a:xfrm>
            <a:off x="3618625" y="1759375"/>
            <a:ext cx="23589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HL7</a:t>
            </a:r>
            <a:endParaRPr sz="23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6460650" y="1759375"/>
            <a:ext cx="24066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  <a:endParaRPr sz="22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Patient FHIR App</a:t>
            </a:r>
            <a:endParaRPr sz="25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96" name="Google Shape;196;p30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0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 1 1">
  <p:cSld name="CUSTOM_1_1_1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/>
          <p:nvPr/>
        </p:nvSpPr>
        <p:spPr>
          <a:xfrm>
            <a:off x="3029725" y="-17250"/>
            <a:ext cx="61038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31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31"/>
          <p:cNvSpPr txBox="1"/>
          <p:nvPr/>
        </p:nvSpPr>
        <p:spPr>
          <a:xfrm>
            <a:off x="220350" y="180000"/>
            <a:ext cx="981300" cy="1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Agenda</a:t>
            </a:r>
            <a:endParaRPr sz="1200"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02" name="Google Shape;202;p31"/>
          <p:cNvSpPr txBox="1"/>
          <p:nvPr/>
        </p:nvSpPr>
        <p:spPr>
          <a:xfrm>
            <a:off x="3167325" y="180000"/>
            <a:ext cx="1944300" cy="27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3167325" y="159555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3477650" y="1595550"/>
            <a:ext cx="2742300" cy="19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Requirements Summary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Medplum Offering for Elekta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Hosting Options Matrix</a:t>
            </a:r>
            <a:endParaRPr sz="1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Poppins"/>
              <a:buChar char="●"/>
            </a:pPr>
            <a:r>
              <a:rPr lang="en" sz="1000">
                <a:solidFill>
                  <a:schemeClr val="accent1"/>
                </a:solidFill>
                <a:latin typeface="Poppins"/>
                <a:ea typeface="Poppins"/>
                <a:cs typeface="Poppins"/>
                <a:sym typeface="Poppins"/>
              </a:rPr>
              <a:t>Per Customer Pricing</a:t>
            </a:r>
            <a:endParaRPr sz="1000">
              <a:solidFill>
                <a:schemeClr val="accent1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Substitutes comparison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Other Items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5" name="Google Shape;205;p31"/>
          <p:cNvSpPr txBox="1"/>
          <p:nvPr/>
        </p:nvSpPr>
        <p:spPr>
          <a:xfrm>
            <a:off x="3167325" y="205350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6" name="Google Shape;206;p31"/>
          <p:cNvSpPr txBox="1"/>
          <p:nvPr/>
        </p:nvSpPr>
        <p:spPr>
          <a:xfrm>
            <a:off x="3167325" y="2876225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3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07" name="Google Shape;207;p31"/>
          <p:cNvSpPr txBox="1"/>
          <p:nvPr/>
        </p:nvSpPr>
        <p:spPr>
          <a:xfrm>
            <a:off x="3167325" y="3336450"/>
            <a:ext cx="3402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</a:t>
            </a:r>
            <a:endParaRPr sz="15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08" name="Google Shape;208;p31" title="medplum_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31"/>
          <p:cNvSpPr txBox="1"/>
          <p:nvPr/>
        </p:nvSpPr>
        <p:spPr>
          <a:xfrm>
            <a:off x="3167325" y="4834113"/>
            <a:ext cx="2946900" cy="1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latin typeface="Poppins"/>
                <a:ea typeface="Poppins"/>
                <a:cs typeface="Poppins"/>
                <a:sym typeface="Poppins"/>
              </a:rPr>
              <a:t>Build your own EHR Integrating using open source</a:t>
            </a:r>
            <a:r>
              <a:rPr lang="en" sz="1000">
                <a:latin typeface="Poppins"/>
                <a:ea typeface="Poppins"/>
                <a:cs typeface="Poppins"/>
                <a:sym typeface="Poppins"/>
              </a:rPr>
              <a:t> </a:t>
            </a:r>
            <a:endParaRPr sz="1000"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2">
  <p:cSld name="CUSTOM_2_1_1"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2"/>
          <p:cNvSpPr txBox="1"/>
          <p:nvPr>
            <p:ph idx="12" type="sldNum"/>
          </p:nvPr>
        </p:nvSpPr>
        <p:spPr>
          <a:xfrm>
            <a:off x="8614049" y="4830300"/>
            <a:ext cx="309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1pPr>
            <a:lvl2pPr lvl="1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2pPr>
            <a:lvl3pPr lvl="2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3pPr>
            <a:lvl4pPr lvl="3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4pPr>
            <a:lvl5pPr lvl="4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5pPr>
            <a:lvl6pPr lvl="5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6pPr>
            <a:lvl7pPr lvl="6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7pPr>
            <a:lvl8pPr lvl="7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8pPr>
            <a:lvl9pPr lvl="8" algn="r">
              <a:buClr>
                <a:srgbClr val="000000"/>
              </a:buClr>
              <a:buSzPts val="900"/>
              <a:buFont typeface="Helvetica Neue Light"/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32"/>
          <p:cNvSpPr txBox="1"/>
          <p:nvPr>
            <p:ph type="title"/>
          </p:nvPr>
        </p:nvSpPr>
        <p:spPr>
          <a:xfrm>
            <a:off x="270000" y="270000"/>
            <a:ext cx="5660400" cy="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 Medium"/>
              <a:buNone/>
              <a:defRPr sz="2400">
                <a:solidFill>
                  <a:schemeClr val="dk1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3" name="Google Shape;213;p32"/>
          <p:cNvSpPr txBox="1"/>
          <p:nvPr>
            <p:ph idx="1" type="subTitle"/>
          </p:nvPr>
        </p:nvSpPr>
        <p:spPr>
          <a:xfrm>
            <a:off x="3188350" y="4835700"/>
            <a:ext cx="4041300" cy="1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Poppins"/>
              <a:buNone/>
              <a:defRPr sz="1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Cairo"/>
              <a:buNone/>
              <a:defRPr sz="900">
                <a:latin typeface="Cairo"/>
                <a:ea typeface="Cairo"/>
                <a:cs typeface="Cairo"/>
                <a:sym typeface="Cairo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905">
          <p15:clr>
            <a:srgbClr val="FA7B17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1">
  <p:cSld name="TITLE_1"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216" name="Google Shape;216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7" name="Google Shape;217;p33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4"/>
          <p:cNvSpPr txBox="1"/>
          <p:nvPr>
            <p:ph type="title"/>
          </p:nvPr>
        </p:nvSpPr>
        <p:spPr>
          <a:xfrm>
            <a:off x="159300" y="140225"/>
            <a:ext cx="8862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159300" y="812625"/>
            <a:ext cx="8862000" cy="375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1" name="Google Shape;221;p34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Center 1">
  <p:cSld name="TITLE_AND_BODY_1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5"/>
          <p:cNvSpPr txBox="1"/>
          <p:nvPr>
            <p:ph idx="12" type="sldNum"/>
          </p:nvPr>
        </p:nvSpPr>
        <p:spPr>
          <a:xfrm>
            <a:off x="8672162" y="4905375"/>
            <a:ext cx="1701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b="0" i="0" sz="900" u="none" cap="none" strike="noStrike">
                <a:solidFill>
                  <a:srgbClr val="00000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 type="blank">
  <p:cSld name="BLANK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6"/>
          <p:cNvSpPr txBox="1"/>
          <p:nvPr>
            <p:ph idx="12" type="sldNum"/>
          </p:nvPr>
        </p:nvSpPr>
        <p:spPr>
          <a:xfrm>
            <a:off x="8472458" y="4663217"/>
            <a:ext cx="548700" cy="177000"/>
          </a:xfrm>
          <a:prstGeom prst="rect">
            <a:avLst/>
          </a:prstGeom>
        </p:spPr>
        <p:txBody>
          <a:bodyPr anchorCtr="0" anchor="t" bIns="19050" lIns="19050" spcFirstLastPara="1" rIns="19050" wrap="square" tIns="19050">
            <a:sp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22.xml"/><Relationship Id="rId22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24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722100" y="4817400"/>
            <a:ext cx="230400" cy="1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Helvetica Neue Light"/>
              <a:buNone/>
              <a:defRPr i="0" sz="900" u="none" cap="none" strike="noStrike">
                <a:solidFill>
                  <a:srgbClr val="9E9E9E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39">
          <p15:clr>
            <a:srgbClr val="EA4335"/>
          </p15:clr>
        </p15:guide>
        <p15:guide id="2" pos="5621">
          <p15:clr>
            <a:srgbClr val="EA4335"/>
          </p15:clr>
        </p15:guide>
        <p15:guide id="3" orient="horz" pos="113">
          <p15:clr>
            <a:srgbClr val="EA4335"/>
          </p15:clr>
        </p15:guide>
        <p15:guide id="4" orient="horz" pos="3127">
          <p15:clr>
            <a:srgbClr val="EA4335"/>
          </p15:clr>
        </p15:guide>
        <p15:guide id="5" pos="980">
          <p15:clr>
            <a:srgbClr val="E46962"/>
          </p15:clr>
        </p15:guide>
        <p15:guide id="6" pos="1067">
          <p15:clr>
            <a:srgbClr val="E46962"/>
          </p15:clr>
        </p15:guide>
        <p15:guide id="7" pos="1908">
          <p15:clr>
            <a:srgbClr val="E46962"/>
          </p15:clr>
        </p15:guide>
        <p15:guide id="8" pos="1995">
          <p15:clr>
            <a:srgbClr val="E46962"/>
          </p15:clr>
        </p15:guide>
        <p15:guide id="9" pos="2837">
          <p15:clr>
            <a:srgbClr val="E46962"/>
          </p15:clr>
        </p15:guide>
        <p15:guide id="10" pos="2923">
          <p15:clr>
            <a:srgbClr val="E46962"/>
          </p15:clr>
        </p15:guide>
        <p15:guide id="11" pos="3765">
          <p15:clr>
            <a:srgbClr val="E46962"/>
          </p15:clr>
        </p15:guide>
        <p15:guide id="12" pos="3852">
          <p15:clr>
            <a:srgbClr val="E46962"/>
          </p15:clr>
        </p15:guide>
        <p15:guide id="13" pos="4693">
          <p15:clr>
            <a:srgbClr val="E46962"/>
          </p15:clr>
        </p15:guide>
        <p15:guide id="14" pos="4780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medplum.com/docs/fhir-basics#storing-data-resources" TargetMode="External"/><Relationship Id="rId10" Type="http://schemas.openxmlformats.org/officeDocument/2006/relationships/hyperlink" Target="https://www.medplum.com/docs/api/fhir/medplum" TargetMode="External"/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hyperlink" Target="https://www.medplum.com/docs/api/fhir/resources/patient" TargetMode="External"/><Relationship Id="rId9" Type="http://schemas.openxmlformats.org/officeDocument/2006/relationships/hyperlink" Target="https://www.medplum.com/docs/api/fhir/resources/encounter" TargetMode="External"/><Relationship Id="rId5" Type="http://schemas.openxmlformats.org/officeDocument/2006/relationships/hyperlink" Target="https://www.medplum.com/docs/api/fhir/resources/medication" TargetMode="External"/><Relationship Id="rId6" Type="http://schemas.openxmlformats.org/officeDocument/2006/relationships/hyperlink" Target="https://www.medplum.com/docs/api/fhir/resources/device" TargetMode="External"/><Relationship Id="rId7" Type="http://schemas.openxmlformats.org/officeDocument/2006/relationships/hyperlink" Target="https://www.medplum.com/docs/api/fhir/resources/procedure" TargetMode="External"/><Relationship Id="rId8" Type="http://schemas.openxmlformats.org/officeDocument/2006/relationships/hyperlink" Target="https://www.medplum.com/docs/api/fhir/resources/careplan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hyperlink" Target="https://www.medplum.com/blog/2023/09/06/graphql-vs-rest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hyperlink" Target="https://www.medplum.com/docs/search/basic-search#search-parameters" TargetMode="External"/><Relationship Id="rId5" Type="http://schemas.openxmlformats.org/officeDocument/2006/relationships/hyperlink" Target="https://www.medplum.com/docs/search/basic-search#search-modifiers" TargetMode="External"/><Relationship Id="rId6" Type="http://schemas.openxmlformats.org/officeDocument/2006/relationships/hyperlink" Target="https://www.medplum.com/docs/search/includes" TargetMode="External"/><Relationship Id="rId7" Type="http://schemas.openxmlformats.org/officeDocument/2006/relationships/hyperlink" Target="https://www.medplum.com/docs/search/chained-search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hyperlink" Target="https://www.medplum.com/docs/fhir-basics#naming-data-identifiers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hyperlink" Target="https://loinc.org/" TargetMode="External"/><Relationship Id="rId9" Type="http://schemas.openxmlformats.org/officeDocument/2006/relationships/hyperlink" Target="https://www.medplum.com/docs/fhir-basics#standardizing-data-codeable-concepts" TargetMode="External"/><Relationship Id="rId5" Type="http://schemas.openxmlformats.org/officeDocument/2006/relationships/hyperlink" Target="https://www.snomed.org/" TargetMode="External"/><Relationship Id="rId6" Type="http://schemas.openxmlformats.org/officeDocument/2006/relationships/hyperlink" Target="https://www.ama-assn.org/amaone/cpt-current-procedural-terminology" TargetMode="External"/><Relationship Id="rId7" Type="http://schemas.openxmlformats.org/officeDocument/2006/relationships/hyperlink" Target="https://www.cms.gov/Medicare/Coding/ICD10" TargetMode="External"/><Relationship Id="rId8" Type="http://schemas.openxmlformats.org/officeDocument/2006/relationships/hyperlink" Target="https://www.cms.gov/medicare/coding/medhcpcsgeninfo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hyperlink" Target="https://www.ama-assn.org/practice-management/cpt" TargetMode="External"/><Relationship Id="rId5" Type="http://schemas.openxmlformats.org/officeDocument/2006/relationships/hyperlink" Target="https://www.cdc.gov/nchs/icd/icd10cm_browsertool.htm" TargetMode="External"/><Relationship Id="rId6" Type="http://schemas.openxmlformats.org/officeDocument/2006/relationships/hyperlink" Target="https://loinc.org/" TargetMode="External"/><Relationship Id="rId7" Type="http://schemas.openxmlformats.org/officeDocument/2006/relationships/hyperlink" Target="https://browser.ihtsdotools.org/?perspective=full&amp;conceptId1=404684003&amp;edition=MAIN/2023-11-01&amp;release=&amp;languages=en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hyperlink" Target="https://storybook.medplum.com/?path=/story/medplum-valuesetautocomplete--basic" TargetMode="External"/><Relationship Id="rId5" Type="http://schemas.openxmlformats.org/officeDocument/2006/relationships/hyperlink" Target="http://snomed.info/id/146799005" TargetMode="External"/><Relationship Id="rId6" Type="http://schemas.openxmlformats.org/officeDocument/2006/relationships/hyperlink" Target="http://snomed.info/id/60001007" TargetMode="External"/><Relationship Id="rId7" Type="http://schemas.openxmlformats.org/officeDocument/2006/relationships/hyperlink" Target="http://snomed.info/id/77386006" TargetMode="External"/><Relationship Id="rId8" Type="http://schemas.openxmlformats.org/officeDocument/2006/relationships/hyperlink" Target="http://terminology.hl7.org/5.3.0/CodeSystem-v3-NullFlavor.html#v3-NullFlavor-UNK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hyperlink" Target="http://nurx.com/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Relationship Id="rId4" Type="http://schemas.openxmlformats.org/officeDocument/2006/relationships/hyperlink" Target="http://hl7.org/fhir/us/core/STU6.1/uscdi.html" TargetMode="External"/><Relationship Id="rId5" Type="http://schemas.openxmlformats.org/officeDocument/2006/relationships/hyperlink" Target="https://www.healthit.gov/isa/united-states-core-data-interoperability-uscdi#uscdi-v3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hyperlink" Target="https://www.medplum.com/docs/fhir-basic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Relationship Id="rId4" Type="http://schemas.openxmlformats.org/officeDocument/2006/relationships/image" Target="../media/image14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Relationship Id="rId4" Type="http://schemas.openxmlformats.org/officeDocument/2006/relationships/hyperlink" Target="https://www.medplum.com/docs/charting/capturing-vital-signs" TargetMode="External"/><Relationship Id="rId9" Type="http://schemas.openxmlformats.org/officeDocument/2006/relationships/hyperlink" Target="https://www.medplum.com/docs/careplans/loinc" TargetMode="External"/><Relationship Id="rId5" Type="http://schemas.openxmlformats.org/officeDocument/2006/relationships/hyperlink" Target="https://www.medplum.com/docs/careplans/reference-ranges" TargetMode="External"/><Relationship Id="rId6" Type="http://schemas.openxmlformats.org/officeDocument/2006/relationships/hyperlink" Target="https://www.medplum.com/docs/careplans/loinc" TargetMode="External"/><Relationship Id="rId7" Type="http://schemas.openxmlformats.org/officeDocument/2006/relationships/hyperlink" Target="https://www.medplum.com/blog/fhir-workflow-patterns-to-simplify-your-life" TargetMode="External"/><Relationship Id="rId8" Type="http://schemas.openxmlformats.org/officeDocument/2006/relationships/hyperlink" Target="https://www.medplum.com/docs/api/fhir/resources/observation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Relationship Id="rId4" Type="http://schemas.openxmlformats.org/officeDocument/2006/relationships/hyperlink" Target="https://www.medplum.com/docs/api/fhir/resources/riskassessment" TargetMode="External"/><Relationship Id="rId5" Type="http://schemas.openxmlformats.org/officeDocument/2006/relationships/hyperlink" Target="https://www.medplum.com/docs/careplans/loinc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Relationship Id="rId4" Type="http://schemas.openxmlformats.org/officeDocument/2006/relationships/hyperlink" Target="https://www.medplum.com/docs/api/fhir/resources/condition" TargetMode="External"/><Relationship Id="rId5" Type="http://schemas.openxmlformats.org/officeDocument/2006/relationships/hyperlink" Target="https://www.cdc.gov/nchs/icd/icd10cm_browsertool.htm" TargetMode="External"/><Relationship Id="rId6" Type="http://schemas.openxmlformats.org/officeDocument/2006/relationships/hyperlink" Target="https://www.medplum.com/docs/billing/insurance-eligibility-checks" TargetMode="External"/><Relationship Id="rId7" Type="http://schemas.openxmlformats.org/officeDocument/2006/relationships/hyperlink" Target="https://youtu.be/9miaFbXoT9Y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.png"/><Relationship Id="rId4" Type="http://schemas.openxmlformats.org/officeDocument/2006/relationships/hyperlink" Target="https://www.medplum.com/docs/api/fhir/resources/allergyintolerance" TargetMode="External"/><Relationship Id="rId5" Type="http://schemas.openxmlformats.org/officeDocument/2006/relationships/hyperlink" Target="http://hl7.org/fhir/us/core/STU6.1/StructureDefinition-us-core-allergyintolerance.html" TargetMode="External"/><Relationship Id="rId6" Type="http://schemas.openxmlformats.org/officeDocument/2006/relationships/hyperlink" Target="https://www.medplum.com/docs/medications/medication-codes#rxnorm" TargetMode="External"/></Relationships>
</file>

<file path=ppt/slides/_rels/slide22.xml.rels><?xml version="1.0" encoding="UTF-8" standalone="yes"?><Relationships xmlns="http://schemas.openxmlformats.org/package/2006/relationships"><Relationship Id="rId10" Type="http://schemas.openxmlformats.org/officeDocument/2006/relationships/image" Target="../media/image17.png"/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.png"/><Relationship Id="rId4" Type="http://schemas.openxmlformats.org/officeDocument/2006/relationships/hyperlink" Target="https://www.medplum.com/docs/api/fhir/resources/medicationrequest" TargetMode="External"/><Relationship Id="rId9" Type="http://schemas.openxmlformats.org/officeDocument/2006/relationships/hyperlink" Target="https://www.medplum.com/docs/api/fhir/resources/medicationrequest" TargetMode="External"/><Relationship Id="rId5" Type="http://schemas.openxmlformats.org/officeDocument/2006/relationships/hyperlink" Target="https://www.medplum.com/docs/api/fhir/resources/medicationdispense" TargetMode="External"/><Relationship Id="rId6" Type="http://schemas.openxmlformats.org/officeDocument/2006/relationships/hyperlink" Target="https://www.medplum.com/docs/api/fhir/resources/medicationadministration" TargetMode="External"/><Relationship Id="rId7" Type="http://schemas.openxmlformats.org/officeDocument/2006/relationships/hyperlink" Target="https://www.medplum.com/docs/api/fhir/resources/medicationstatement" TargetMode="External"/><Relationship Id="rId8" Type="http://schemas.openxmlformats.org/officeDocument/2006/relationships/hyperlink" Target="http://hl7.org/fhir/us/core/STU6.1/medication-list.html#fetching-all-medications-active-medications-and-all-medications-for-an-encounter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0" Type="http://schemas.openxmlformats.org/officeDocument/2006/relationships/hyperlink" Target="https://www.medplum.com/docs/api/fhir/resources/condition" TargetMode="External"/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9.png"/><Relationship Id="rId4" Type="http://schemas.openxmlformats.org/officeDocument/2006/relationships/hyperlink" Target="https://www.medplum.com/docs/api/fhir/resources/questionnaire" TargetMode="External"/><Relationship Id="rId9" Type="http://schemas.openxmlformats.org/officeDocument/2006/relationships/hyperlink" Target="https://www.medplum.com/docs/bots/bot-for-questionnaire-response" TargetMode="External"/><Relationship Id="rId5" Type="http://schemas.openxmlformats.org/officeDocument/2006/relationships/hyperlink" Target="https://lhcformbuilder.nlm.nih.gov/" TargetMode="External"/><Relationship Id="rId6" Type="http://schemas.openxmlformats.org/officeDocument/2006/relationships/hyperlink" Target="https://www.medplum.com/docs/api/fhir/resources/questionnaireresponse" TargetMode="External"/><Relationship Id="rId7" Type="http://schemas.openxmlformats.org/officeDocument/2006/relationships/hyperlink" Target="https://www.medplum.com/docs/api/fhir/resources/observation" TargetMode="External"/><Relationship Id="rId8" Type="http://schemas.openxmlformats.org/officeDocument/2006/relationships/hyperlink" Target="https://www.medplum.com/docs/api/fhir/resources/riskassessment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9.png"/><Relationship Id="rId4" Type="http://schemas.openxmlformats.org/officeDocument/2006/relationships/hyperlink" Target="https://build.fhir.org/ig/HL7/cimi-vital-signs/StructureDefinition-body-weight.html" TargetMode="Externa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.png"/><Relationship Id="rId4" Type="http://schemas.openxmlformats.org/officeDocument/2006/relationships/hyperlink" Target="https://build.fhir.org/ig/HL7/US-Core/StructureDefinition-us-core-genderIdentity.html" TargetMode="External"/><Relationship Id="rId5" Type="http://schemas.openxmlformats.org/officeDocument/2006/relationships/hyperlink" Target="https://www.medplum.com/docs/integration/dosespot/getting-started#syncing-patient-and-displaying-the-dosespot-iframe" TargetMode="External"/><Relationship Id="rId6" Type="http://schemas.openxmlformats.org/officeDocument/2006/relationships/hyperlink" Target="https://hl7.org/fhir/R4/valueset-clinical-findings.html" TargetMode="Externa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6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.png"/><Relationship Id="rId4" Type="http://schemas.openxmlformats.org/officeDocument/2006/relationships/hyperlink" Target="https://www.medplum.com/docs/api/fhir/resources/immunization" TargetMode="External"/><Relationship Id="rId5" Type="http://schemas.openxmlformats.org/officeDocument/2006/relationships/hyperlink" Target="http://hl7.org/fhir/us/core/STU6.1/StructureDefinition-us-core-immunization.html" TargetMode="External"/><Relationship Id="rId6" Type="http://schemas.openxmlformats.org/officeDocument/2006/relationships/hyperlink" Target="https://www2a.cdc.gov/vaccines/iis/iisstandards/vaccines.asp?rpt=cvx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2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7" title="medplum logo_whi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735198"/>
            <a:ext cx="1311638" cy="2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7"/>
          <p:cNvSpPr txBox="1"/>
          <p:nvPr/>
        </p:nvSpPr>
        <p:spPr>
          <a:xfrm>
            <a:off x="222300" y="165550"/>
            <a:ext cx="8743500" cy="23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Intake Work Session</a:t>
            </a:r>
            <a:br>
              <a:rPr lang="en" sz="4800">
                <a:solidFill>
                  <a:schemeClr val="accent3"/>
                </a:solidFill>
                <a:latin typeface="Poppins Medium"/>
                <a:ea typeface="Poppins Medium"/>
                <a:cs typeface="Poppins Medium"/>
                <a:sym typeface="Poppins Medium"/>
              </a:rPr>
            </a:br>
            <a:r>
              <a:rPr lang="en" sz="4800">
                <a:solidFill>
                  <a:schemeClr val="accent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Openloop | Medplum</a:t>
            </a:r>
            <a:endParaRPr sz="4800">
              <a:solidFill>
                <a:schemeClr val="accent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accent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2025.11.19</a:t>
            </a:r>
            <a:endParaRPr sz="2400">
              <a:solidFill>
                <a:schemeClr val="accent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8"/>
          <p:cNvSpPr txBox="1"/>
          <p:nvPr/>
        </p:nvSpPr>
        <p:spPr>
          <a:xfrm>
            <a:off x="219456" y="189875"/>
            <a:ext cx="53493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Agenda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37" name="Google Shape;237;p38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8"/>
          <p:cNvSpPr txBox="1"/>
          <p:nvPr/>
        </p:nvSpPr>
        <p:spPr>
          <a:xfrm>
            <a:off x="205700" y="1428325"/>
            <a:ext cx="8444100" cy="3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61950" lvl="0" marL="45720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100"/>
              <a:buFont typeface="Cairo"/>
              <a:buAutoNum type="arabicPeriod"/>
            </a:pPr>
            <a:r>
              <a:rPr lang="en" sz="20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FHIR Basics </a:t>
            </a:r>
            <a:endParaRPr sz="22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000"/>
              <a:buFont typeface="Cairo"/>
              <a:buAutoNum type="arabicPeriod"/>
            </a:pPr>
            <a:r>
              <a:rPr lang="en" sz="20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Clinical Context </a:t>
            </a:r>
            <a:endParaRPr sz="20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55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000"/>
              <a:buFont typeface="Cairo"/>
              <a:buAutoNum type="arabicPeriod"/>
            </a:pPr>
            <a:r>
              <a:rPr lang="en" sz="20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Questionnaires and Patient Intake</a:t>
            </a:r>
            <a:endParaRPr sz="20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9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735206"/>
            <a:ext cx="1311652" cy="2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9"/>
          <p:cNvSpPr txBox="1"/>
          <p:nvPr/>
        </p:nvSpPr>
        <p:spPr>
          <a:xfrm>
            <a:off x="219456" y="165550"/>
            <a:ext cx="6442200" cy="3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56015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FHIR Basics</a:t>
            </a:r>
            <a:endParaRPr sz="4800">
              <a:solidFill>
                <a:srgbClr val="56015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56015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56015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0"/>
          <p:cNvSpPr txBox="1"/>
          <p:nvPr/>
        </p:nvSpPr>
        <p:spPr>
          <a:xfrm>
            <a:off x="219456" y="189875"/>
            <a:ext cx="53493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Why FHIR?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50" name="Google Shape;250;p40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40"/>
          <p:cNvSpPr txBox="1"/>
          <p:nvPr/>
        </p:nvSpPr>
        <p:spPr>
          <a:xfrm>
            <a:off x="205700" y="1428325"/>
            <a:ext cx="8444100" cy="3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Interoperability: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Increasingly, healthcare partners are exposing their data via FHIR APIs. Storing your data according to FHIR spec smooths the path to interoperating with multiple partner</a:t>
            </a:r>
            <a:r>
              <a:rPr lang="en" sz="1200">
                <a:solidFill>
                  <a:srgbClr val="1C1E21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Future Proof: 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The FHIR spec anticipates many of the complexities that arise in the healthcare domain, helping teams avoid these backend rewrites.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Data Hygiene: 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FHIR has a steep learning curve up front, but enforcing good data hygiene up front makes compliance, reporting, and billing much easier down the line.</a:t>
            </a:r>
            <a:endParaRPr sz="20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1"/>
          <p:cNvSpPr txBox="1"/>
          <p:nvPr/>
        </p:nvSpPr>
        <p:spPr>
          <a:xfrm>
            <a:off x="219456" y="189875"/>
            <a:ext cx="53493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Resources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57" name="Google Shape;257;p41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1"/>
          <p:cNvSpPr txBox="1"/>
          <p:nvPr/>
        </p:nvSpPr>
        <p:spPr>
          <a:xfrm>
            <a:off x="205700" y="1428325"/>
            <a:ext cx="5363100" cy="32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●"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Object Store: 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FHIR data is stored as  JSON objects known as “resources”</a:t>
            </a:r>
            <a:endParaRPr baseline="30000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30000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Resource Types: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150+ Resource Types 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represent a broad range of healthcare concepts:</a:t>
            </a:r>
            <a:endParaRPr sz="1500">
              <a:solidFill>
                <a:srgbClr val="1C1E2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○"/>
            </a:pP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Concrete entities ( </a:t>
            </a:r>
            <a:r>
              <a:rPr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Patient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, </a:t>
            </a:r>
            <a:r>
              <a:rPr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Medication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, </a:t>
            </a:r>
            <a:r>
              <a:rPr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Device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) </a:t>
            </a:r>
            <a:endParaRPr sz="1500">
              <a:solidFill>
                <a:srgbClr val="1C1E2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○"/>
            </a:pP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Abstract concepts ( </a:t>
            </a:r>
            <a:r>
              <a:rPr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Procedure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, </a:t>
            </a:r>
            <a:r>
              <a:rPr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Care Plan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, </a:t>
            </a:r>
            <a:r>
              <a:rPr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Encounter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)</a:t>
            </a:r>
            <a:endParaRPr sz="1500">
              <a:solidFill>
                <a:srgbClr val="1C1E2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C1E2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C1E21"/>
              </a:buClr>
              <a:buSzPts val="1500"/>
              <a:buFont typeface="Cairo"/>
              <a:buChar char="●"/>
            </a:pPr>
            <a:r>
              <a:rPr b="1"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Id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: All resources have an “id” field which serves as their unique identifier. </a:t>
            </a:r>
            <a:endParaRPr sz="1500">
              <a:solidFill>
                <a:srgbClr val="1C1E2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C1E21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C1E21"/>
              </a:buClr>
              <a:buSzPts val="1500"/>
              <a:buFont typeface="Cairo"/>
              <a:buChar char="●"/>
            </a:pPr>
            <a:r>
              <a:rPr b="1"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Medplum Resource Types</a:t>
            </a:r>
            <a:r>
              <a:rPr lang="en" sz="15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: Medplum extends the FHIR spec with its own resources types, primarily related to Auth and User administration</a:t>
            </a:r>
            <a:endParaRPr b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59" name="Google Shape;259;p41"/>
          <p:cNvSpPr txBox="1"/>
          <p:nvPr/>
        </p:nvSpPr>
        <p:spPr>
          <a:xfrm>
            <a:off x="6024200" y="1108800"/>
            <a:ext cx="2872800" cy="31299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"resourceType"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"Patient"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85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Unique id for this resource</a:t>
            </a:r>
            <a:endParaRPr i="1" sz="850">
              <a:solidFill>
                <a:srgbClr val="99998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"id"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"j_chalmers"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85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Patient Name (could have multiple)</a:t>
            </a:r>
            <a:endParaRPr i="1" sz="850">
              <a:solidFill>
                <a:srgbClr val="99998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"use"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"official"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"family"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"Chalmers"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"given"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"Peter"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"James"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],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85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Phone + email info</a:t>
            </a:r>
            <a:endParaRPr i="1" sz="850">
              <a:solidFill>
                <a:srgbClr val="99998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"telecom"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"system"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"phone"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"value"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"(03) 3410 5613"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8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"use"</a:t>
            </a: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8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"mobile"</a:t>
            </a:r>
            <a:endParaRPr sz="850">
              <a:solidFill>
                <a:srgbClr val="E3116C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],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85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//…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500">
              <a:solidFill>
                <a:srgbClr val="595959"/>
              </a:solidFill>
            </a:endParaRPr>
          </a:p>
        </p:txBody>
      </p:sp>
      <p:sp>
        <p:nvSpPr>
          <p:cNvPr id="260" name="Google Shape;260;p41"/>
          <p:cNvSpPr txBox="1"/>
          <p:nvPr/>
        </p:nvSpPr>
        <p:spPr>
          <a:xfrm>
            <a:off x="6330900" y="4747025"/>
            <a:ext cx="281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097A7"/>
                </a:solidFill>
                <a:hlinkClick r:id="rId11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https://www.medplum.com/docs/fhir-basics#storing-data-resources</a:t>
            </a:r>
            <a:r>
              <a:rPr lang="en" sz="900"/>
              <a:t> </a:t>
            </a:r>
            <a:endParaRPr sz="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2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FHIR Search: Retrieving sets of resources from the server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66" name="Google Shape;266;p42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2"/>
          <p:cNvSpPr txBox="1"/>
          <p:nvPr/>
        </p:nvSpPr>
        <p:spPr>
          <a:xfrm>
            <a:off x="213250" y="1323025"/>
            <a:ext cx="48885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●"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FHIR Search: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FHIR defines a rich set of query parameters to retrieve sets of resources that fulfill certain criteria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REST vs. GraphQL: 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FHIR provides both a REST and GraphQL API for searching resources. However, the GraphQL specification only contains a subset of functionality of the REST API (see</a:t>
            </a:r>
            <a:r>
              <a:rPr lang="en"/>
              <a:t> </a:t>
            </a:r>
            <a:r>
              <a:rPr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GraphQL vs REST APIs in Medplum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)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3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Basic Search Concepts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73" name="Google Shape;273;p43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43"/>
          <p:cNvSpPr txBox="1"/>
          <p:nvPr/>
        </p:nvSpPr>
        <p:spPr>
          <a:xfrm>
            <a:off x="213250" y="1323025"/>
            <a:ext cx="48885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Search Parameters:</a:t>
            </a: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Resource elements that are allowed to be searched / sorted.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Search Parameter Modifiers:</a:t>
            </a: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Change the behavior of search parameters.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Including Linked Resources:</a:t>
            </a: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Retrieve multiple resources, of different types, that reference an “anchor” resource.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Chained Search:</a:t>
            </a: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Filter “anchor” resources based on referenced/referencing resources.</a:t>
            </a: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endParaRPr b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4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Identifiers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80" name="Google Shape;280;p44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44"/>
          <p:cNvSpPr txBox="1"/>
          <p:nvPr/>
        </p:nvSpPr>
        <p:spPr>
          <a:xfrm>
            <a:off x="5465300" y="1108800"/>
            <a:ext cx="3241800" cy="34878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7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75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Resource Type (i.e. "class name")</a:t>
            </a:r>
            <a:endParaRPr i="1" sz="750">
              <a:solidFill>
                <a:srgbClr val="99998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"resourceType"</a:t>
            </a: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7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"Patient"</a:t>
            </a: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75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Unique id for this resource</a:t>
            </a:r>
            <a:endParaRPr i="1" sz="750">
              <a:solidFill>
                <a:srgbClr val="99998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"id"</a:t>
            </a: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7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"j_chalmers"</a:t>
            </a: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i="1" lang="en" sz="750">
                <a:solidFill>
                  <a:srgbClr val="999988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// Patient Name (could have multiple)</a:t>
            </a:r>
            <a:endParaRPr i="1" sz="750">
              <a:solidFill>
                <a:srgbClr val="999988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"name"</a:t>
            </a: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endParaRPr sz="7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7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7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"use"</a:t>
            </a: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7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"official"</a:t>
            </a: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7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"family"</a:t>
            </a: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7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"Chalmers"</a:t>
            </a: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750">
                <a:solidFill>
                  <a:srgbClr val="36ACAA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"given"</a:t>
            </a: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r>
              <a:rPr lang="en" sz="7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"Peter"</a:t>
            </a: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7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"James"</a:t>
            </a: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7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7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],</a:t>
            </a:r>
            <a:endParaRPr sz="7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750">
                <a:solidFill>
                  <a:srgbClr val="36ACAA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"identifier"</a:t>
            </a: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: [</a:t>
            </a:r>
            <a:endParaRPr sz="750">
              <a:solidFill>
                <a:srgbClr val="393A34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750">
                <a:solidFill>
                  <a:srgbClr val="99998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// Social Security Number ID (US-SSN)</a:t>
            </a:r>
            <a:endParaRPr i="1" sz="750">
              <a:solidFill>
                <a:srgbClr val="999988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750">
              <a:solidFill>
                <a:srgbClr val="393A34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750">
                <a:solidFill>
                  <a:srgbClr val="36ACAA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"system"</a:t>
            </a: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750">
                <a:solidFill>
                  <a:srgbClr val="E3116C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"http://hl7.org/fhir/sid/us-ssn"</a:t>
            </a: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50">
              <a:solidFill>
                <a:srgbClr val="393A34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750">
                <a:solidFill>
                  <a:srgbClr val="36ACAA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"value"</a:t>
            </a: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750">
                <a:solidFill>
                  <a:srgbClr val="E3116C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"011-11-1234"</a:t>
            </a:r>
            <a:endParaRPr sz="750">
              <a:solidFill>
                <a:srgbClr val="E3116C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750">
              <a:solidFill>
                <a:srgbClr val="393A34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750">
                <a:solidFill>
                  <a:srgbClr val="99998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// MRN - Hospital 1</a:t>
            </a:r>
            <a:endParaRPr i="1" sz="750">
              <a:solidFill>
                <a:srgbClr val="999988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750">
              <a:solidFill>
                <a:srgbClr val="393A34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750">
                <a:solidFill>
                  <a:srgbClr val="36ACAA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"system"</a:t>
            </a: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750">
                <a:solidFill>
                  <a:srgbClr val="E3116C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"http://hospital-1.org"</a:t>
            </a: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50">
              <a:solidFill>
                <a:srgbClr val="393A34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750">
                <a:solidFill>
                  <a:srgbClr val="36ACAA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"value"</a:t>
            </a: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750">
                <a:solidFill>
                  <a:srgbClr val="E3116C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"MRN-12345678"</a:t>
            </a:r>
            <a:endParaRPr sz="750">
              <a:solidFill>
                <a:srgbClr val="E3116C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},</a:t>
            </a:r>
            <a:endParaRPr sz="750">
              <a:solidFill>
                <a:srgbClr val="393A34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i="1" lang="en" sz="750">
                <a:solidFill>
                  <a:srgbClr val="999988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// MRN - Hospital 2</a:t>
            </a:r>
            <a:endParaRPr i="1" sz="750">
              <a:solidFill>
                <a:srgbClr val="999988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750">
              <a:solidFill>
                <a:srgbClr val="393A34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750">
                <a:solidFill>
                  <a:srgbClr val="36ACAA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"system"</a:t>
            </a: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750">
                <a:solidFill>
                  <a:srgbClr val="E3116C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"http://hospital-2.org"</a:t>
            </a: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50">
              <a:solidFill>
                <a:srgbClr val="393A34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" sz="750">
                <a:solidFill>
                  <a:srgbClr val="36ACAA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"value"</a:t>
            </a: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en" sz="750">
                <a:solidFill>
                  <a:srgbClr val="E3116C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"0987AZ6"</a:t>
            </a:r>
            <a:endParaRPr sz="750">
              <a:solidFill>
                <a:srgbClr val="E3116C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750">
              <a:solidFill>
                <a:srgbClr val="393A34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EFEFEF"/>
                </a:highlight>
                <a:latin typeface="Courier New"/>
                <a:ea typeface="Courier New"/>
                <a:cs typeface="Courier New"/>
                <a:sym typeface="Courier New"/>
              </a:rPr>
              <a:t> ]</a:t>
            </a:r>
            <a:endParaRPr sz="750">
              <a:solidFill>
                <a:srgbClr val="393A34"/>
              </a:solidFill>
              <a:highlight>
                <a:srgbClr val="EFEFE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7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82" name="Google Shape;282;p44"/>
          <p:cNvSpPr txBox="1"/>
          <p:nvPr/>
        </p:nvSpPr>
        <p:spPr>
          <a:xfrm>
            <a:off x="213250" y="1108800"/>
            <a:ext cx="48885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b="1"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Identifiers</a:t>
            </a:r>
            <a:r>
              <a:rPr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The same resource can have many different unique identifiers, depending on the context. </a:t>
            </a:r>
            <a:endParaRPr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FHIR allows resources to be annotated with multiple identifiers simultaneously</a:t>
            </a:r>
            <a:endParaRPr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Especially useful when </a:t>
            </a:r>
            <a:r>
              <a:rPr b="1"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syncing data from external systems</a:t>
            </a:r>
            <a:endParaRPr b="1"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83" name="Google Shape;283;p44"/>
          <p:cNvSpPr txBox="1"/>
          <p:nvPr/>
        </p:nvSpPr>
        <p:spPr>
          <a:xfrm>
            <a:off x="810925" y="3049725"/>
            <a:ext cx="3391200" cy="8124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latin typeface="Courier Prime"/>
                <a:ea typeface="Courier Prime"/>
                <a:cs typeface="Courier Prime"/>
                <a:sym typeface="Courier Prime"/>
              </a:rPr>
              <a:t>{</a:t>
            </a:r>
            <a:endParaRPr sz="1050">
              <a:solidFill>
                <a:srgbClr val="E3116C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116C"/>
                </a:solidFill>
                <a:latin typeface="Courier Prime"/>
                <a:ea typeface="Courier Prime"/>
                <a:cs typeface="Courier Prime"/>
                <a:sym typeface="Courier Prime"/>
              </a:rPr>
              <a:t>  </a:t>
            </a:r>
            <a:r>
              <a:rPr lang="en" sz="1050">
                <a:solidFill>
                  <a:srgbClr val="36ACAA"/>
                </a:solidFill>
                <a:latin typeface="Courier Prime"/>
                <a:ea typeface="Courier Prime"/>
                <a:cs typeface="Courier Prime"/>
                <a:sym typeface="Courier Prime"/>
              </a:rPr>
              <a:t>"system": </a:t>
            </a:r>
            <a:r>
              <a:rPr lang="en" sz="1050">
                <a:solidFill>
                  <a:srgbClr val="E3116C"/>
                </a:solidFill>
                <a:latin typeface="Courier Prime"/>
                <a:ea typeface="Courier Prime"/>
                <a:cs typeface="Courier Prime"/>
                <a:sym typeface="Courier Prime"/>
              </a:rPr>
              <a:t>":systemUrl",</a:t>
            </a:r>
            <a:endParaRPr sz="1050">
              <a:solidFill>
                <a:srgbClr val="E3116C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116C"/>
                </a:solidFill>
                <a:latin typeface="Courier Prime"/>
                <a:ea typeface="Courier Prime"/>
                <a:cs typeface="Courier Prime"/>
                <a:sym typeface="Courier Prime"/>
              </a:rPr>
              <a:t>  </a:t>
            </a:r>
            <a:r>
              <a:rPr lang="en" sz="1050">
                <a:solidFill>
                  <a:srgbClr val="36ACAA"/>
                </a:solidFill>
                <a:latin typeface="Courier Prime"/>
                <a:ea typeface="Courier Prime"/>
                <a:cs typeface="Courier Prime"/>
                <a:sym typeface="Courier Prime"/>
              </a:rPr>
              <a:t>“value”</a:t>
            </a:r>
            <a:r>
              <a:rPr lang="en" sz="1050">
                <a:solidFill>
                  <a:srgbClr val="393A34"/>
                </a:solidFill>
                <a:latin typeface="Courier Prime"/>
                <a:ea typeface="Courier Prime"/>
                <a:cs typeface="Courier Prime"/>
                <a:sym typeface="Courier Prime"/>
              </a:rPr>
              <a:t>:</a:t>
            </a:r>
            <a:r>
              <a:rPr lang="en" sz="1050">
                <a:solidFill>
                  <a:srgbClr val="E3116C"/>
                </a:solidFill>
                <a:latin typeface="Courier Prime"/>
                <a:ea typeface="Courier Prime"/>
                <a:cs typeface="Courier Prime"/>
                <a:sym typeface="Courier Prime"/>
              </a:rPr>
              <a:t> “:identifier”</a:t>
            </a:r>
            <a:endParaRPr sz="1050">
              <a:solidFill>
                <a:srgbClr val="E3116C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  <a:endParaRPr sz="7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284" name="Google Shape;284;p44"/>
          <p:cNvSpPr txBox="1"/>
          <p:nvPr/>
        </p:nvSpPr>
        <p:spPr>
          <a:xfrm>
            <a:off x="6330900" y="4747025"/>
            <a:ext cx="281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https://www.medplum.com/docs/fhir-basics#naming-data-identifiers</a:t>
            </a:r>
            <a:r>
              <a:rPr lang="en" sz="900"/>
              <a:t> </a:t>
            </a:r>
            <a:endParaRPr sz="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5"/>
          <p:cNvSpPr txBox="1"/>
          <p:nvPr/>
        </p:nvSpPr>
        <p:spPr>
          <a:xfrm>
            <a:off x="219450" y="189875"/>
            <a:ext cx="68541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Codeable Concepts: Standardizing Data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290" name="Google Shape;290;p45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45"/>
          <p:cNvSpPr txBox="1"/>
          <p:nvPr/>
        </p:nvSpPr>
        <p:spPr>
          <a:xfrm>
            <a:off x="213250" y="1323025"/>
            <a:ext cx="48885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b="1"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Code Systems</a:t>
            </a:r>
            <a:r>
              <a:rPr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Healthcare operations depend codes to provide common names for concepts: procedures, diagnoses, and clinical results</a:t>
            </a:r>
            <a:endParaRPr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300"/>
              <a:buFont typeface="Cairo"/>
              <a:buChar char="○"/>
            </a:pPr>
            <a:r>
              <a:rPr lang="en" sz="13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LOINC</a:t>
            </a:r>
            <a:r>
              <a:rPr lang="en" sz="13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, </a:t>
            </a:r>
            <a:r>
              <a:rPr lang="en" sz="13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SNOMED</a:t>
            </a:r>
            <a:r>
              <a:rPr lang="en" sz="13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, </a:t>
            </a:r>
            <a:r>
              <a:rPr lang="en" sz="13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CPT</a:t>
            </a:r>
            <a:r>
              <a:rPr lang="en" sz="13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, </a:t>
            </a:r>
            <a:r>
              <a:rPr lang="en" sz="13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ICD</a:t>
            </a:r>
            <a:r>
              <a:rPr lang="en" sz="1300">
                <a:solidFill>
                  <a:srgbClr val="1C1E21"/>
                </a:solidFill>
                <a:latin typeface="Cairo"/>
                <a:ea typeface="Cairo"/>
                <a:cs typeface="Cairo"/>
                <a:sym typeface="Cairo"/>
              </a:rPr>
              <a:t>, </a:t>
            </a:r>
            <a:r>
              <a:rPr lang="en" sz="13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HCPCS</a:t>
            </a:r>
            <a:endParaRPr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b="1"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CodeableConcept: </a:t>
            </a:r>
            <a:r>
              <a:rPr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FHIR data type to annotate a given healthcare concept with (multiple) codes</a:t>
            </a:r>
            <a:endParaRPr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292" name="Google Shape;292;p45"/>
          <p:cNvSpPr txBox="1"/>
          <p:nvPr/>
        </p:nvSpPr>
        <p:spPr>
          <a:xfrm>
            <a:off x="810925" y="3049725"/>
            <a:ext cx="3391200" cy="16473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latin typeface="Courier Prime"/>
                <a:ea typeface="Courier Prime"/>
                <a:cs typeface="Courier Prime"/>
                <a:sym typeface="Courier Prime"/>
              </a:rPr>
              <a:t>{</a:t>
            </a:r>
            <a:endParaRPr sz="1050">
              <a:solidFill>
                <a:srgbClr val="393A34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6ACAA"/>
                </a:solidFill>
                <a:latin typeface="Courier Prime"/>
                <a:ea typeface="Courier Prime"/>
                <a:cs typeface="Courier Prime"/>
                <a:sym typeface="Courier Prime"/>
              </a:rPr>
              <a:t>  "text"</a:t>
            </a:r>
            <a:r>
              <a:rPr lang="en" sz="1050">
                <a:solidFill>
                  <a:srgbClr val="393A34"/>
                </a:solidFill>
                <a:latin typeface="Courier Prime"/>
                <a:ea typeface="Courier Prime"/>
                <a:cs typeface="Courier Prime"/>
                <a:sym typeface="Courier Prime"/>
              </a:rPr>
              <a:t>:</a:t>
            </a:r>
            <a:r>
              <a:rPr lang="en" sz="1050">
                <a:solidFill>
                  <a:srgbClr val="E3116C"/>
                </a:solidFill>
                <a:latin typeface="Courier Prime"/>
                <a:ea typeface="Courier Prime"/>
                <a:cs typeface="Courier Prime"/>
                <a:sym typeface="Courier Prime"/>
              </a:rPr>
              <a:t>"description-of-concept"</a:t>
            </a:r>
            <a:r>
              <a:rPr lang="en" sz="1050">
                <a:solidFill>
                  <a:srgbClr val="393A34"/>
                </a:solidFill>
                <a:latin typeface="Courier Prime"/>
                <a:ea typeface="Courier Prime"/>
                <a:cs typeface="Courier Prime"/>
                <a:sym typeface="Courier Prime"/>
              </a:rPr>
              <a:t>,</a:t>
            </a:r>
            <a:endParaRPr sz="1050">
              <a:solidFill>
                <a:srgbClr val="393A34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6ACAA"/>
                </a:solidFill>
                <a:latin typeface="Courier Prime"/>
                <a:ea typeface="Courier Prime"/>
                <a:cs typeface="Courier Prime"/>
                <a:sym typeface="Courier Prime"/>
              </a:rPr>
              <a:t>  "coding"</a:t>
            </a:r>
            <a:r>
              <a:rPr lang="en" sz="1050">
                <a:solidFill>
                  <a:srgbClr val="393A34"/>
                </a:solidFill>
                <a:latin typeface="Courier Prime"/>
                <a:ea typeface="Courier Prime"/>
                <a:cs typeface="Courier Prime"/>
                <a:sym typeface="Courier Prime"/>
              </a:rPr>
              <a:t>: [</a:t>
            </a:r>
            <a:endParaRPr sz="1050">
              <a:solidFill>
                <a:srgbClr val="393A34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116C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{</a:t>
            </a:r>
            <a:endParaRPr sz="1050">
              <a:solidFill>
                <a:srgbClr val="E3116C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116C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 </a:t>
            </a:r>
            <a:r>
              <a:rPr lang="en" sz="1050">
                <a:solidFill>
                  <a:srgbClr val="36ACAA"/>
                </a:solidFill>
                <a:latin typeface="Courier Prime"/>
                <a:ea typeface="Courier Prime"/>
                <a:cs typeface="Courier Prime"/>
                <a:sym typeface="Courier Prime"/>
              </a:rPr>
              <a:t>"system": </a:t>
            </a:r>
            <a:r>
              <a:rPr lang="en" sz="1050">
                <a:solidFill>
                  <a:srgbClr val="E3116C"/>
                </a:solidFill>
                <a:latin typeface="Courier Prime"/>
                <a:ea typeface="Courier Prime"/>
                <a:cs typeface="Courier Prime"/>
                <a:sym typeface="Courier Prime"/>
              </a:rPr>
              <a:t>":systemUrl",</a:t>
            </a:r>
            <a:endParaRPr sz="1050">
              <a:solidFill>
                <a:srgbClr val="E3116C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116C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 </a:t>
            </a:r>
            <a:r>
              <a:rPr lang="en" sz="1050">
                <a:solidFill>
                  <a:srgbClr val="36ACAA"/>
                </a:solidFill>
                <a:latin typeface="Courier Prime"/>
                <a:ea typeface="Courier Prime"/>
                <a:cs typeface="Courier Prime"/>
                <a:sym typeface="Courier Prime"/>
              </a:rPr>
              <a:t>“code”</a:t>
            </a:r>
            <a:r>
              <a:rPr lang="en" sz="1050">
                <a:solidFill>
                  <a:srgbClr val="393A34"/>
                </a:solidFill>
                <a:latin typeface="Courier Prime"/>
                <a:ea typeface="Courier Prime"/>
                <a:cs typeface="Courier Prime"/>
                <a:sym typeface="Courier Prime"/>
              </a:rPr>
              <a:t>:</a:t>
            </a:r>
            <a:r>
              <a:rPr lang="en" sz="1050">
                <a:solidFill>
                  <a:srgbClr val="E3116C"/>
                </a:solidFill>
                <a:latin typeface="Courier Prime"/>
                <a:ea typeface="Courier Prime"/>
                <a:cs typeface="Courier Prime"/>
                <a:sym typeface="Courier Prime"/>
              </a:rPr>
              <a:t> “:code”</a:t>
            </a:r>
            <a:endParaRPr sz="1050">
              <a:solidFill>
                <a:srgbClr val="E3116C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116C"/>
                </a:solidFill>
                <a:latin typeface="Courier Prime"/>
                <a:ea typeface="Courier Prime"/>
                <a:cs typeface="Courier Prime"/>
                <a:sym typeface="Courier Prime"/>
              </a:rPr>
              <a:t>    }</a:t>
            </a:r>
            <a:endParaRPr sz="1050">
              <a:solidFill>
                <a:srgbClr val="E3116C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116C"/>
                </a:solidFill>
                <a:latin typeface="Courier Prime"/>
                <a:ea typeface="Courier Prime"/>
                <a:cs typeface="Courier Prime"/>
                <a:sym typeface="Courier Prime"/>
              </a:rPr>
              <a:t>  ]</a:t>
            </a:r>
            <a:endParaRPr sz="1050">
              <a:solidFill>
                <a:srgbClr val="E3116C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  <a:endParaRPr sz="7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293" name="Google Shape;293;p45"/>
          <p:cNvSpPr txBox="1"/>
          <p:nvPr/>
        </p:nvSpPr>
        <p:spPr>
          <a:xfrm>
            <a:off x="5465300" y="1108800"/>
            <a:ext cx="3241800" cy="34878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text: </a:t>
            </a:r>
            <a:r>
              <a:rPr lang="en" sz="11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'Tylenol 325 MG Oral Tablet'</a:t>
            </a:r>
            <a:endParaRPr sz="1150">
              <a:solidFill>
                <a:srgbClr val="E3116C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coding: [</a:t>
            </a:r>
            <a:endParaRPr sz="11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11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system: </a:t>
            </a:r>
            <a:r>
              <a:rPr lang="en" sz="11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'http://hl7.org/fhir/sid/ndc'</a:t>
            </a: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code: </a:t>
            </a:r>
            <a:r>
              <a:rPr lang="en" sz="11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'50580045850'</a:t>
            </a:r>
            <a:endParaRPr sz="1150">
              <a:solidFill>
                <a:srgbClr val="E3116C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{</a:t>
            </a:r>
            <a:endParaRPr sz="11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system: </a:t>
            </a:r>
            <a:r>
              <a:rPr lang="en" sz="11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'http://www.nlm.nih.gov/research/umls/rxnorm'</a:t>
            </a: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1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  code: </a:t>
            </a:r>
            <a:r>
              <a:rPr lang="en" sz="1150">
                <a:solidFill>
                  <a:srgbClr val="E3116C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'209387'</a:t>
            </a:r>
            <a:endParaRPr sz="1150">
              <a:solidFill>
                <a:srgbClr val="E3116C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150">
              <a:solidFill>
                <a:srgbClr val="393A34"/>
              </a:solidFill>
              <a:highlight>
                <a:srgbClr val="F6F8FA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New"/>
                <a:ea typeface="Courier New"/>
                <a:cs typeface="Courier New"/>
                <a:sym typeface="Courier New"/>
              </a:rPr>
              <a:t> ]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294" name="Google Shape;294;p45"/>
          <p:cNvSpPr txBox="1"/>
          <p:nvPr/>
        </p:nvSpPr>
        <p:spPr>
          <a:xfrm>
            <a:off x="6330900" y="4747025"/>
            <a:ext cx="281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 u="sng">
                <a:solidFill>
                  <a:srgbClr val="0097A7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https://www.medplum.com/docs/fhir-basics#standardizing-data-codeable-concepts</a:t>
            </a:r>
            <a:r>
              <a:rPr lang="en" sz="900"/>
              <a:t> </a:t>
            </a:r>
            <a:endParaRPr sz="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Code Systems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00" name="Google Shape;300;p46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46"/>
          <p:cNvSpPr txBox="1"/>
          <p:nvPr/>
        </p:nvSpPr>
        <p:spPr>
          <a:xfrm>
            <a:off x="213250" y="1323025"/>
            <a:ext cx="48885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●"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Well Defined Service Menu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Beginning with a well-defined set of codes will streamline your build and simplify billing and reporting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○"/>
            </a:pPr>
            <a:r>
              <a:rPr b="1"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CPT</a:t>
            </a: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What was done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○"/>
            </a:pPr>
            <a:r>
              <a:rPr b="1"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ICD-10</a:t>
            </a: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Why it was done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○"/>
            </a:pPr>
            <a:r>
              <a:rPr b="1"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LOINC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Measurable results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○"/>
            </a:pPr>
            <a:r>
              <a:rPr b="1"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SNOMED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Provider Roles / additional concepts</a:t>
            </a:r>
            <a:endParaRPr b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7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ValueSets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07" name="Google Shape;307;p47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7"/>
          <p:cNvSpPr txBox="1"/>
          <p:nvPr/>
        </p:nvSpPr>
        <p:spPr>
          <a:xfrm>
            <a:off x="213250" y="1323025"/>
            <a:ext cx="48885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●"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ValueSets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Subsets of codes selected for a specific semantic purpose.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ValueSets can be </a:t>
            </a: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bound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to certain FHIR elements to define the set of possible values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ValueSetAutocomplete: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React component that can be bound to a ValueSet and used as input for ValueSet bound fields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aphicFrame>
        <p:nvGraphicFramePr>
          <p:cNvPr id="309" name="Google Shape;309;p47"/>
          <p:cNvGraphicFramePr/>
          <p:nvPr/>
        </p:nvGraphicFramePr>
        <p:xfrm>
          <a:off x="5511575" y="1573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{5804789C-9DAA-4647-B804-00F09051721B}</a:tableStyleId>
              </a:tblPr>
              <a:tblGrid>
                <a:gridCol w="1635400"/>
                <a:gridCol w="1695275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Pregnancy Status (LOINC</a:t>
                      </a:r>
                      <a:r>
                        <a:rPr lang="en" sz="1200">
                          <a:solidFill>
                            <a:srgbClr val="FFFFFF"/>
                          </a:solidFill>
                        </a:rPr>
                        <a:t> </a:t>
                      </a:r>
                      <a:r>
                        <a:rPr b="1" lang="en" sz="1200">
                          <a:solidFill>
                            <a:srgbClr val="FFFFFF"/>
                          </a:solidFill>
                        </a:rPr>
                        <a:t>82810-3)</a:t>
                      </a:r>
                      <a:endParaRPr b="1" sz="12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946AF9"/>
                    </a:solidFill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iro"/>
                          <a:ea typeface="Cairo"/>
                          <a:cs typeface="Cairo"/>
                          <a:sym typeface="Cairo"/>
                        </a:rPr>
                        <a:t>Possible pregnancy (situation)</a:t>
                      </a:r>
                      <a:endParaRPr sz="10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>
                    <a:lnB cap="flat" cmpd="sng" w="8650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latin typeface="Cairo"/>
                          <a:ea typeface="Cairo"/>
                          <a:cs typeface="Cairo"/>
                          <a:sym typeface="Cairo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146799005</a:t>
                      </a:r>
                      <a:r>
                        <a:rPr lang="en" sz="1000">
                          <a:latin typeface="Cairo"/>
                          <a:ea typeface="Cairo"/>
                          <a:cs typeface="Cairo"/>
                          <a:sym typeface="Cairo"/>
                        </a:rPr>
                        <a:t> (SNOMED)</a:t>
                      </a:r>
                      <a:endParaRPr sz="10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iro"/>
                          <a:ea typeface="Cairo"/>
                          <a:cs typeface="Cairo"/>
                          <a:sym typeface="Cairo"/>
                        </a:rPr>
                        <a:t>Not pregnant (finding)</a:t>
                      </a:r>
                      <a:endParaRPr sz="10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iro"/>
                          <a:ea typeface="Cairo"/>
                          <a:cs typeface="Cairo"/>
                          <a:sym typeface="Cairo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60001007</a:t>
                      </a:r>
                      <a:r>
                        <a:rPr lang="en" sz="1000">
                          <a:latin typeface="Cairo"/>
                          <a:ea typeface="Cairo"/>
                          <a:cs typeface="Cairo"/>
                          <a:sym typeface="Cairo"/>
                        </a:rPr>
                        <a:t> (SNOMED)</a:t>
                      </a:r>
                      <a:endParaRPr sz="10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65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iro"/>
                          <a:ea typeface="Cairo"/>
                          <a:cs typeface="Cairo"/>
                          <a:sym typeface="Cairo"/>
                        </a:rPr>
                        <a:t>Pregnancy (finding)</a:t>
                      </a:r>
                      <a:endParaRPr sz="10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8650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8650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8650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u="sng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airo"/>
                          <a:ea typeface="Cairo"/>
                          <a:cs typeface="Cairo"/>
                          <a:sym typeface="Cairo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77386006</a:t>
                      </a:r>
                      <a:r>
                        <a:rPr lang="en" sz="1000">
                          <a:latin typeface="Cairo"/>
                          <a:ea typeface="Cairo"/>
                          <a:cs typeface="Cairo"/>
                          <a:sym typeface="Cairo"/>
                        </a:rPr>
                        <a:t> (SNOMED)</a:t>
                      </a:r>
                      <a:endParaRPr sz="10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>
                    <a:lnL cap="flat" cmpd="sng" w="8650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latin typeface="Cairo"/>
                          <a:ea typeface="Cairo"/>
                          <a:cs typeface="Cairo"/>
                          <a:sym typeface="Cairo"/>
                        </a:rPr>
                        <a:t>Unknown</a:t>
                      </a:r>
                      <a:endParaRPr sz="10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>
                    <a:lnT cap="flat" cmpd="sng" w="8650">
                      <a:solidFill>
                        <a:srgbClr val="C0C0C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333333"/>
                          </a:solidFill>
                          <a:highlight>
                            <a:srgbClr val="FFFFFF"/>
                          </a:highlight>
                          <a:latin typeface="Cairo"/>
                          <a:ea typeface="Cairo"/>
                          <a:cs typeface="Cairo"/>
                          <a:sym typeface="Cairo"/>
                        </a:rPr>
                        <a:t>  </a:t>
                      </a:r>
                      <a:r>
                        <a:rPr lang="en" sz="100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uFill>
                            <a:noFill/>
                          </a:uFill>
                          <a:latin typeface="Cairo"/>
                          <a:ea typeface="Cairo"/>
                          <a:cs typeface="Cairo"/>
                          <a:sym typeface="Cairo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UNK</a:t>
                      </a:r>
                      <a:r>
                        <a:rPr lang="en" sz="1000">
                          <a:latin typeface="Cairo"/>
                          <a:ea typeface="Cairo"/>
                          <a:cs typeface="Cairo"/>
                          <a:sym typeface="Cairo"/>
                        </a:rPr>
                        <a:t> (HL7 Null)</a:t>
                      </a:r>
                      <a:endParaRPr sz="1000">
                        <a:latin typeface="Cairo"/>
                        <a:ea typeface="Cairo"/>
                        <a:cs typeface="Cairo"/>
                        <a:sym typeface="Cair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8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Logical References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15" name="Google Shape;315;p48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8"/>
          <p:cNvSpPr txBox="1"/>
          <p:nvPr/>
        </p:nvSpPr>
        <p:spPr>
          <a:xfrm>
            <a:off x="800150" y="3128400"/>
            <a:ext cx="3111600" cy="13791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latin typeface="Courier Prime"/>
                <a:ea typeface="Courier Prime"/>
                <a:cs typeface="Courier Prime"/>
                <a:sym typeface="Courier Prime"/>
              </a:rPr>
              <a:t>{</a:t>
            </a:r>
            <a:endParaRPr sz="1050">
              <a:solidFill>
                <a:srgbClr val="393A34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6ACAA"/>
                </a:solidFill>
                <a:latin typeface="Courier Prime"/>
                <a:ea typeface="Courier Prime"/>
                <a:cs typeface="Courier Prime"/>
                <a:sym typeface="Courier Prime"/>
              </a:rPr>
              <a:t>  "reference"</a:t>
            </a:r>
            <a:r>
              <a:rPr lang="en" sz="1050">
                <a:solidFill>
                  <a:srgbClr val="393A34"/>
                </a:solidFill>
                <a:latin typeface="Courier Prime"/>
                <a:ea typeface="Courier Prime"/>
                <a:cs typeface="Courier Prime"/>
                <a:sym typeface="Courier Prime"/>
              </a:rPr>
              <a:t>:</a:t>
            </a:r>
            <a:r>
              <a:rPr lang="en" sz="1050">
                <a:solidFill>
                  <a:srgbClr val="E3116C"/>
                </a:solidFill>
                <a:latin typeface="Courier Prime"/>
                <a:ea typeface="Courier Prime"/>
                <a:cs typeface="Courier Prime"/>
                <a:sym typeface="Courier Prime"/>
              </a:rPr>
              <a:t>":resourceType/:id"</a:t>
            </a:r>
            <a:r>
              <a:rPr lang="en" sz="1050">
                <a:solidFill>
                  <a:srgbClr val="393A34"/>
                </a:solidFill>
                <a:latin typeface="Courier Prime"/>
                <a:ea typeface="Courier Prime"/>
                <a:cs typeface="Courier Prime"/>
                <a:sym typeface="Courier Prime"/>
              </a:rPr>
              <a:t>,</a:t>
            </a:r>
            <a:endParaRPr sz="1050">
              <a:solidFill>
                <a:srgbClr val="393A34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6ACAA"/>
                </a:solidFill>
                <a:latin typeface="Courier Prime"/>
                <a:ea typeface="Courier Prime"/>
                <a:cs typeface="Courier Prime"/>
                <a:sym typeface="Courier Prime"/>
              </a:rPr>
              <a:t>  "display"</a:t>
            </a:r>
            <a:r>
              <a:rPr lang="en" sz="1050">
                <a:solidFill>
                  <a:srgbClr val="393A34"/>
                </a:solidFill>
                <a:latin typeface="Courier Prime"/>
                <a:ea typeface="Courier Prime"/>
                <a:cs typeface="Courier Prime"/>
                <a:sym typeface="Courier Prime"/>
              </a:rPr>
              <a:t>: </a:t>
            </a:r>
            <a:r>
              <a:rPr lang="en" sz="1050">
                <a:solidFill>
                  <a:srgbClr val="E3116C"/>
                </a:solidFill>
                <a:latin typeface="Courier Prime"/>
                <a:ea typeface="Courier Prime"/>
                <a:cs typeface="Courier Prime"/>
                <a:sym typeface="Courier Prime"/>
              </a:rPr>
              <a:t>":display string"</a:t>
            </a:r>
            <a:endParaRPr sz="1050">
              <a:solidFill>
                <a:srgbClr val="E3116C"/>
              </a:solidFill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6ACAA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"type"</a:t>
            </a:r>
            <a:r>
              <a:rPr lang="en" sz="1050">
                <a:solidFill>
                  <a:srgbClr val="393A34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: </a:t>
            </a:r>
            <a:r>
              <a:rPr lang="en" sz="1050">
                <a:solidFill>
                  <a:srgbClr val="E3116C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":resourceType"</a:t>
            </a:r>
            <a:endParaRPr sz="1050">
              <a:solidFill>
                <a:srgbClr val="E3116C"/>
              </a:solidFill>
              <a:highlight>
                <a:srgbClr val="D9D9D9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6ACAA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  "identifier"</a:t>
            </a:r>
            <a:r>
              <a:rPr lang="en" sz="1050">
                <a:solidFill>
                  <a:srgbClr val="393A34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: </a:t>
            </a:r>
            <a:r>
              <a:rPr lang="en" sz="1050">
                <a:solidFill>
                  <a:srgbClr val="E3116C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":identifier"</a:t>
            </a:r>
            <a:endParaRPr sz="1050">
              <a:solidFill>
                <a:srgbClr val="E3116C"/>
              </a:solidFill>
              <a:highlight>
                <a:srgbClr val="D9D9D9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393A34"/>
                </a:solidFill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  <a:endParaRPr sz="7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317" name="Google Shape;317;p48"/>
          <p:cNvSpPr txBox="1"/>
          <p:nvPr/>
        </p:nvSpPr>
        <p:spPr>
          <a:xfrm>
            <a:off x="5288000" y="1108800"/>
            <a:ext cx="3609000" cy="3398700"/>
          </a:xfrm>
          <a:prstGeom prst="rect">
            <a:avLst/>
          </a:prstGeom>
          <a:solidFill>
            <a:srgbClr val="F6F8FA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{</a:t>
            </a:r>
            <a:endParaRPr sz="11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" sz="1150">
                <a:solidFill>
                  <a:srgbClr val="36ACAA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"resourceType"</a:t>
            </a: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: </a:t>
            </a:r>
            <a:r>
              <a:rPr lang="en" sz="1150">
                <a:solidFill>
                  <a:srgbClr val="E3116C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"Task"</a:t>
            </a: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,</a:t>
            </a:r>
            <a:endParaRPr sz="11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" sz="1150">
                <a:solidFill>
                  <a:srgbClr val="36ACAA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"id"</a:t>
            </a: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: </a:t>
            </a:r>
            <a:r>
              <a:rPr lang="en" sz="1150">
                <a:solidFill>
                  <a:srgbClr val="E3116C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"medrx002"</a:t>
            </a: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,</a:t>
            </a:r>
            <a:endParaRPr sz="11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i="1" lang="en" sz="1150">
                <a:solidFill>
                  <a:srgbClr val="999988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// Reference to the patient for whom medication is being ordered</a:t>
            </a:r>
            <a:endParaRPr i="1" sz="1150">
              <a:solidFill>
                <a:srgbClr val="999988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 </a:t>
            </a:r>
            <a:r>
              <a:rPr lang="en" sz="1150">
                <a:solidFill>
                  <a:srgbClr val="36ACAA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"for"</a:t>
            </a:r>
            <a:r>
              <a:rPr lang="en" sz="1150">
                <a:solidFill>
                  <a:srgbClr val="393A34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: {</a:t>
            </a:r>
            <a:endParaRPr sz="1150">
              <a:solidFill>
                <a:srgbClr val="393A34"/>
              </a:solidFill>
              <a:highlight>
                <a:srgbClr val="D9D9D9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</a:t>
            </a:r>
            <a:r>
              <a:rPr lang="en" sz="1150">
                <a:solidFill>
                  <a:srgbClr val="36ACAA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"type"</a:t>
            </a:r>
            <a:r>
              <a:rPr lang="en" sz="1150">
                <a:solidFill>
                  <a:srgbClr val="393A34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: </a:t>
            </a:r>
            <a:r>
              <a:rPr lang="en" sz="1150">
                <a:solidFill>
                  <a:srgbClr val="E3116C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"Patient"</a:t>
            </a:r>
            <a:r>
              <a:rPr lang="en" sz="1150">
                <a:solidFill>
                  <a:srgbClr val="393A34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,</a:t>
            </a:r>
            <a:endParaRPr sz="1150">
              <a:solidFill>
                <a:srgbClr val="393A34"/>
              </a:solidFill>
              <a:highlight>
                <a:srgbClr val="D9D9D9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</a:t>
            </a:r>
            <a:r>
              <a:rPr lang="en" sz="1150">
                <a:solidFill>
                  <a:srgbClr val="36ACAA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"identifier"</a:t>
            </a:r>
            <a:r>
              <a:rPr lang="en" sz="1150">
                <a:solidFill>
                  <a:srgbClr val="393A34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: { </a:t>
            </a:r>
            <a:endParaRPr sz="1150">
              <a:solidFill>
                <a:srgbClr val="393A34"/>
              </a:solidFill>
              <a:highlight>
                <a:srgbClr val="D9D9D9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system:  </a:t>
            </a:r>
            <a:r>
              <a:rPr lang="en" sz="1150">
                <a:solidFill>
                  <a:srgbClr val="E3116C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"</a:t>
            </a:r>
            <a:r>
              <a:rPr lang="en" sz="1150" u="sng">
                <a:solidFill>
                  <a:srgbClr val="0097A7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http://example.com/</a:t>
            </a:r>
            <a:r>
              <a:rPr lang="en" sz="1150">
                <a:solidFill>
                  <a:srgbClr val="E3116C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", </a:t>
            </a:r>
            <a:endParaRPr sz="1150">
              <a:solidFill>
                <a:srgbClr val="E3116C"/>
              </a:solidFill>
              <a:highlight>
                <a:srgbClr val="D9D9D9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3116C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   value: “12321321”</a:t>
            </a:r>
            <a:endParaRPr sz="1150">
              <a:solidFill>
                <a:srgbClr val="E3116C"/>
              </a:solidFill>
              <a:highlight>
                <a:srgbClr val="D9D9D9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3116C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   }</a:t>
            </a:r>
            <a:endParaRPr sz="1150">
              <a:solidFill>
                <a:srgbClr val="E3116C"/>
              </a:solidFill>
              <a:highlight>
                <a:srgbClr val="D9D9D9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D9D9D9"/>
                </a:highlight>
                <a:latin typeface="Courier Prime"/>
                <a:ea typeface="Courier Prime"/>
                <a:cs typeface="Courier Prime"/>
                <a:sym typeface="Courier Prime"/>
              </a:rPr>
              <a:t> }</a:t>
            </a:r>
            <a:endParaRPr sz="1150">
              <a:solidFill>
                <a:srgbClr val="393A34"/>
              </a:solidFill>
              <a:highlight>
                <a:srgbClr val="CCCCCC"/>
              </a:highlight>
              <a:latin typeface="Courier Prime"/>
              <a:ea typeface="Courier Prime"/>
              <a:cs typeface="Courier Prime"/>
              <a:sym typeface="Courier Prim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393A34"/>
                </a:solidFill>
                <a:highlight>
                  <a:srgbClr val="F6F8FA"/>
                </a:highlight>
                <a:latin typeface="Courier Prime"/>
                <a:ea typeface="Courier Prime"/>
                <a:cs typeface="Courier Prime"/>
                <a:sym typeface="Courier Prime"/>
              </a:rPr>
              <a:t>}</a:t>
            </a:r>
            <a:endParaRPr sz="850">
              <a:solidFill>
                <a:srgbClr val="393A34"/>
              </a:solidFill>
              <a:highlight>
                <a:srgbClr val="F6F8FA"/>
              </a:highlight>
              <a:latin typeface="Courier Prime"/>
              <a:ea typeface="Courier Prime"/>
              <a:cs typeface="Courier Prime"/>
              <a:sym typeface="Courier Prime"/>
            </a:endParaRPr>
          </a:p>
        </p:txBody>
      </p:sp>
      <p:sp>
        <p:nvSpPr>
          <p:cNvPr id="318" name="Google Shape;318;p48"/>
          <p:cNvSpPr txBox="1"/>
          <p:nvPr/>
        </p:nvSpPr>
        <p:spPr>
          <a:xfrm>
            <a:off x="219450" y="1021100"/>
            <a:ext cx="4888500" cy="19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●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Most clinical workflows are comprised of </a:t>
            </a: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multiple FHIR resources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; captures the complexity of healthcare workflows.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●"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References link related resources together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, similar to foreign keys in traditional databases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Syntax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9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Data Modeling Process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24" name="Google Shape;324;p49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49"/>
          <p:cNvSpPr txBox="1"/>
          <p:nvPr/>
        </p:nvSpPr>
        <p:spPr>
          <a:xfrm>
            <a:off x="387400" y="1235150"/>
            <a:ext cx="48885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●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Data modeling consists of multiple layers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300"/>
              <a:buFont typeface="Cairo"/>
              <a:buChar char="○"/>
            </a:pPr>
            <a:r>
              <a:rPr b="1"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Structure: </a:t>
            </a:r>
            <a:r>
              <a:rPr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Which FHIR resources map to the data elements you are storing?</a:t>
            </a:r>
            <a:endParaRPr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300"/>
              <a:buFont typeface="Cairo"/>
              <a:buChar char="○"/>
            </a:pPr>
            <a:r>
              <a:rPr b="1"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Terminology</a:t>
            </a:r>
            <a:r>
              <a:rPr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Which codes and code systems represent the specific concepts you are representing.</a:t>
            </a:r>
            <a:endParaRPr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11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300"/>
              <a:buFont typeface="Cairo"/>
              <a:buChar char="○"/>
            </a:pPr>
            <a:r>
              <a:rPr b="1"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Lifecycle: </a:t>
            </a:r>
            <a:r>
              <a:rPr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H</a:t>
            </a:r>
            <a:r>
              <a:rPr lang="en" sz="13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ow to model different resource fields as they move through your workflow</a:t>
            </a:r>
            <a:endParaRPr sz="13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Different communities publish </a:t>
            </a: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implementation guides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- guidance on how to use the FHIR spec within a specific context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 Core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-  Guidance from ONC on how to represent </a:t>
            </a:r>
            <a:r>
              <a:rPr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USCDI Data Elements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within FHIR.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grpSp>
        <p:nvGrpSpPr>
          <p:cNvPr id="326" name="Google Shape;326;p49"/>
          <p:cNvGrpSpPr/>
          <p:nvPr/>
        </p:nvGrpSpPr>
        <p:grpSpPr>
          <a:xfrm>
            <a:off x="5990764" y="1953654"/>
            <a:ext cx="2678208" cy="2305056"/>
            <a:chOff x="5515900" y="1416125"/>
            <a:chExt cx="3219000" cy="2770500"/>
          </a:xfrm>
        </p:grpSpPr>
        <p:sp>
          <p:nvSpPr>
            <p:cNvPr id="327" name="Google Shape;327;p49"/>
            <p:cNvSpPr/>
            <p:nvPr/>
          </p:nvSpPr>
          <p:spPr>
            <a:xfrm>
              <a:off x="5515900" y="3263225"/>
              <a:ext cx="3219000" cy="923400"/>
            </a:xfrm>
            <a:prstGeom prst="trapezoid">
              <a:avLst>
                <a:gd fmla="val 58599" name="adj"/>
              </a:avLst>
            </a:prstGeom>
            <a:solidFill>
              <a:srgbClr val="7857C5">
                <a:alpha val="60000"/>
              </a:srgbClr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49"/>
            <p:cNvSpPr/>
            <p:nvPr/>
          </p:nvSpPr>
          <p:spPr>
            <a:xfrm>
              <a:off x="6055400" y="2339675"/>
              <a:ext cx="2142300" cy="923400"/>
            </a:xfrm>
            <a:prstGeom prst="trapezoid">
              <a:avLst>
                <a:gd fmla="val 58599" name="adj"/>
              </a:avLst>
            </a:prstGeom>
            <a:solidFill>
              <a:srgbClr val="946AF9">
                <a:alpha val="60000"/>
              </a:srgbClr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49"/>
            <p:cNvSpPr/>
            <p:nvPr/>
          </p:nvSpPr>
          <p:spPr>
            <a:xfrm>
              <a:off x="6592750" y="1416125"/>
              <a:ext cx="1065300" cy="923400"/>
            </a:xfrm>
            <a:prstGeom prst="triangle">
              <a:avLst>
                <a:gd fmla="val 50000" name="adj"/>
              </a:avLst>
            </a:prstGeom>
            <a:solidFill>
              <a:srgbClr val="40BC25">
                <a:alpha val="60000"/>
              </a:srgbClr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0" name="Google Shape;330;p49"/>
          <p:cNvSpPr txBox="1"/>
          <p:nvPr/>
        </p:nvSpPr>
        <p:spPr>
          <a:xfrm>
            <a:off x="6739300" y="3680450"/>
            <a:ext cx="1181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Structure</a:t>
            </a:r>
            <a:endParaRPr sz="1200">
              <a:solidFill>
                <a:srgbClr val="595959"/>
              </a:solidFill>
              <a:latin typeface="Cairo SemiBold"/>
              <a:ea typeface="Cairo SemiBold"/>
              <a:cs typeface="Cairo SemiBold"/>
              <a:sym typeface="Cairo SemiBold"/>
            </a:endParaRPr>
          </a:p>
        </p:txBody>
      </p:sp>
      <p:sp>
        <p:nvSpPr>
          <p:cNvPr id="331" name="Google Shape;331;p49"/>
          <p:cNvSpPr txBox="1"/>
          <p:nvPr/>
        </p:nvSpPr>
        <p:spPr>
          <a:xfrm>
            <a:off x="6739300" y="2920400"/>
            <a:ext cx="1181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Terminology</a:t>
            </a:r>
            <a:endParaRPr sz="1200">
              <a:solidFill>
                <a:srgbClr val="595959"/>
              </a:solidFill>
              <a:latin typeface="Cairo SemiBold"/>
              <a:ea typeface="Cairo SemiBold"/>
              <a:cs typeface="Cairo SemiBold"/>
              <a:sym typeface="Cairo SemiBold"/>
            </a:endParaRPr>
          </a:p>
        </p:txBody>
      </p:sp>
      <p:sp>
        <p:nvSpPr>
          <p:cNvPr id="332" name="Google Shape;332;p49"/>
          <p:cNvSpPr txBox="1"/>
          <p:nvPr/>
        </p:nvSpPr>
        <p:spPr>
          <a:xfrm>
            <a:off x="6739325" y="2369900"/>
            <a:ext cx="1181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Lifecycle</a:t>
            </a:r>
            <a:endParaRPr sz="1200">
              <a:solidFill>
                <a:srgbClr val="595959"/>
              </a:solidFill>
              <a:latin typeface="Cairo SemiBold"/>
              <a:ea typeface="Cairo SemiBold"/>
              <a:cs typeface="Cairo SemiBold"/>
              <a:sym typeface="Cairo Semi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50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735206"/>
            <a:ext cx="1311652" cy="28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8" name="Google Shape;338;p50"/>
          <p:cNvGrpSpPr/>
          <p:nvPr/>
        </p:nvGrpSpPr>
        <p:grpSpPr>
          <a:xfrm>
            <a:off x="5990764" y="1953654"/>
            <a:ext cx="2678208" cy="2305056"/>
            <a:chOff x="5515900" y="1416125"/>
            <a:chExt cx="3219000" cy="2770500"/>
          </a:xfrm>
        </p:grpSpPr>
        <p:sp>
          <p:nvSpPr>
            <p:cNvPr id="339" name="Google Shape;339;p50"/>
            <p:cNvSpPr/>
            <p:nvPr/>
          </p:nvSpPr>
          <p:spPr>
            <a:xfrm>
              <a:off x="5515900" y="3263225"/>
              <a:ext cx="3219000" cy="923400"/>
            </a:xfrm>
            <a:prstGeom prst="trapezoid">
              <a:avLst>
                <a:gd fmla="val 58599" name="adj"/>
              </a:avLst>
            </a:prstGeom>
            <a:solidFill>
              <a:srgbClr val="7857C5">
                <a:alpha val="60000"/>
              </a:srgbClr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50"/>
            <p:cNvSpPr/>
            <p:nvPr/>
          </p:nvSpPr>
          <p:spPr>
            <a:xfrm>
              <a:off x="6055400" y="2339675"/>
              <a:ext cx="2142300" cy="923400"/>
            </a:xfrm>
            <a:prstGeom prst="trapezoid">
              <a:avLst>
                <a:gd fmla="val 58599" name="adj"/>
              </a:avLst>
            </a:prstGeom>
            <a:solidFill>
              <a:srgbClr val="946AF9">
                <a:alpha val="60000"/>
              </a:srgbClr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50"/>
            <p:cNvSpPr/>
            <p:nvPr/>
          </p:nvSpPr>
          <p:spPr>
            <a:xfrm>
              <a:off x="6592750" y="1416125"/>
              <a:ext cx="1065300" cy="923400"/>
            </a:xfrm>
            <a:prstGeom prst="triangle">
              <a:avLst>
                <a:gd fmla="val 50000" name="adj"/>
              </a:avLst>
            </a:prstGeom>
            <a:solidFill>
              <a:srgbClr val="40BC25">
                <a:alpha val="60000"/>
              </a:srgbClr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50"/>
          <p:cNvSpPr txBox="1"/>
          <p:nvPr/>
        </p:nvSpPr>
        <p:spPr>
          <a:xfrm>
            <a:off x="6739300" y="3680450"/>
            <a:ext cx="1181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Structure</a:t>
            </a:r>
            <a:endParaRPr sz="1200">
              <a:solidFill>
                <a:srgbClr val="595959"/>
              </a:solidFill>
              <a:latin typeface="Cairo SemiBold"/>
              <a:ea typeface="Cairo SemiBold"/>
              <a:cs typeface="Cairo SemiBold"/>
              <a:sym typeface="Cairo SemiBold"/>
            </a:endParaRPr>
          </a:p>
        </p:txBody>
      </p:sp>
      <p:sp>
        <p:nvSpPr>
          <p:cNvPr id="343" name="Google Shape;343;p50"/>
          <p:cNvSpPr txBox="1"/>
          <p:nvPr/>
        </p:nvSpPr>
        <p:spPr>
          <a:xfrm>
            <a:off x="6739300" y="2920400"/>
            <a:ext cx="1181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Terminology</a:t>
            </a:r>
            <a:endParaRPr sz="1200">
              <a:solidFill>
                <a:srgbClr val="595959"/>
              </a:solidFill>
              <a:latin typeface="Cairo SemiBold"/>
              <a:ea typeface="Cairo SemiBold"/>
              <a:cs typeface="Cairo SemiBold"/>
              <a:sym typeface="Cairo SemiBold"/>
            </a:endParaRPr>
          </a:p>
        </p:txBody>
      </p:sp>
      <p:sp>
        <p:nvSpPr>
          <p:cNvPr id="344" name="Google Shape;344;p50"/>
          <p:cNvSpPr txBox="1"/>
          <p:nvPr/>
        </p:nvSpPr>
        <p:spPr>
          <a:xfrm>
            <a:off x="6739325" y="2369900"/>
            <a:ext cx="1181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Lifecycle</a:t>
            </a:r>
            <a:endParaRPr sz="1200">
              <a:solidFill>
                <a:srgbClr val="595959"/>
              </a:solidFill>
              <a:latin typeface="Cairo SemiBold"/>
              <a:ea typeface="Cairo SemiBold"/>
              <a:cs typeface="Cairo SemiBold"/>
              <a:sym typeface="Cairo SemiBold"/>
            </a:endParaRPr>
          </a:p>
        </p:txBody>
      </p:sp>
      <p:sp>
        <p:nvSpPr>
          <p:cNvPr id="345" name="Google Shape;345;p50"/>
          <p:cNvSpPr txBox="1"/>
          <p:nvPr/>
        </p:nvSpPr>
        <p:spPr>
          <a:xfrm>
            <a:off x="387400" y="1235150"/>
            <a:ext cx="48885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Medplum FHIR Basics</a:t>
            </a:r>
            <a:endParaRPr b="1" sz="2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51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735206"/>
            <a:ext cx="1311652" cy="2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51"/>
          <p:cNvSpPr txBox="1"/>
          <p:nvPr/>
        </p:nvSpPr>
        <p:spPr>
          <a:xfrm>
            <a:off x="219456" y="165550"/>
            <a:ext cx="6442200" cy="3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56015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Clinical Context</a:t>
            </a:r>
            <a:endParaRPr sz="4800">
              <a:solidFill>
                <a:srgbClr val="56015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56015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56015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2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Clinical Context Model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57" name="Google Shape;357;p52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1550" y="926025"/>
            <a:ext cx="1657930" cy="415634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52"/>
          <p:cNvSpPr/>
          <p:nvPr/>
        </p:nvSpPr>
        <p:spPr>
          <a:xfrm>
            <a:off x="2487475" y="2607999"/>
            <a:ext cx="1532100" cy="28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52"/>
          <p:cNvSpPr/>
          <p:nvPr/>
        </p:nvSpPr>
        <p:spPr>
          <a:xfrm>
            <a:off x="2487475" y="3300918"/>
            <a:ext cx="1532100" cy="28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52"/>
          <p:cNvSpPr/>
          <p:nvPr/>
        </p:nvSpPr>
        <p:spPr>
          <a:xfrm>
            <a:off x="2487475" y="2954455"/>
            <a:ext cx="1532100" cy="28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2"/>
          <p:cNvSpPr/>
          <p:nvPr/>
        </p:nvSpPr>
        <p:spPr>
          <a:xfrm>
            <a:off x="2487475" y="3647393"/>
            <a:ext cx="1532100" cy="287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52"/>
          <p:cNvSpPr/>
          <p:nvPr/>
        </p:nvSpPr>
        <p:spPr>
          <a:xfrm>
            <a:off x="2487475" y="3962300"/>
            <a:ext cx="1532100" cy="1014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946A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4" name="Google Shape;364;p52"/>
          <p:cNvCxnSpPr/>
          <p:nvPr/>
        </p:nvCxnSpPr>
        <p:spPr>
          <a:xfrm flipH="1" rot="10800000">
            <a:off x="4133675" y="2103275"/>
            <a:ext cx="1544100" cy="630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52"/>
          <p:cNvCxnSpPr/>
          <p:nvPr/>
        </p:nvCxnSpPr>
        <p:spPr>
          <a:xfrm flipH="1" rot="10800000">
            <a:off x="4133675" y="2604700"/>
            <a:ext cx="1552800" cy="5268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52"/>
          <p:cNvCxnSpPr/>
          <p:nvPr/>
        </p:nvCxnSpPr>
        <p:spPr>
          <a:xfrm flipH="1" rot="10800000">
            <a:off x="4133675" y="3173275"/>
            <a:ext cx="1552800" cy="318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52"/>
          <p:cNvCxnSpPr/>
          <p:nvPr/>
        </p:nvCxnSpPr>
        <p:spPr>
          <a:xfrm>
            <a:off x="4133675" y="3797300"/>
            <a:ext cx="1602600" cy="1245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52"/>
          <p:cNvCxnSpPr/>
          <p:nvPr/>
        </p:nvCxnSpPr>
        <p:spPr>
          <a:xfrm flipH="1" rot="10800000">
            <a:off x="4133675" y="4129500"/>
            <a:ext cx="1625100" cy="4353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69" name="Google Shape;369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07978" y="1629750"/>
            <a:ext cx="951789" cy="553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07975" y="2270305"/>
            <a:ext cx="925933" cy="46297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5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07977" y="2955775"/>
            <a:ext cx="1129976" cy="46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5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07976" y="3797300"/>
            <a:ext cx="1197349" cy="46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3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Clinical Context Model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78" name="Google Shape;378;p53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125" y="2186162"/>
            <a:ext cx="8283776" cy="139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4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Observation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85" name="Google Shape;385;p54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54"/>
          <p:cNvSpPr txBox="1"/>
          <p:nvPr/>
        </p:nvSpPr>
        <p:spPr>
          <a:xfrm>
            <a:off x="5973725" y="812850"/>
            <a:ext cx="2952900" cy="12486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Reference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Capturing Vital Signs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Reference Ranges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LOINC Codes</a:t>
            </a:r>
            <a:endParaRPr b="1"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●"/>
            </a:pPr>
            <a:r>
              <a:rPr lang="en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FHIR Workflow Patterns</a:t>
            </a:r>
            <a:endParaRPr b="1"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387" name="Google Shape;387;p54"/>
          <p:cNvSpPr txBox="1"/>
          <p:nvPr/>
        </p:nvSpPr>
        <p:spPr>
          <a:xfrm>
            <a:off x="5973725" y="2649075"/>
            <a:ext cx="2952900" cy="16533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Applications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Vital Signs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Diagnostic Lab Results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Physical Patient Measurements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Smoking Status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388" name="Google Shape;388;p54"/>
          <p:cNvSpPr txBox="1"/>
          <p:nvPr/>
        </p:nvSpPr>
        <p:spPr>
          <a:xfrm>
            <a:off x="220350" y="754825"/>
            <a:ext cx="58938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900"/>
              <a:buFont typeface="Cairo"/>
              <a:buChar char="●"/>
            </a:pPr>
            <a:r>
              <a:rPr b="1" lang="en" sz="18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Observation</a:t>
            </a: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Structured representations of </a:t>
            </a: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point-in-time clinical measurement.</a:t>
            </a:r>
            <a:endParaRPr b="1"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Can be </a:t>
            </a: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quantitative 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(e.g. heart rate) or </a:t>
            </a: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qualitative 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(e.g. eye color).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Records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○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Type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○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Value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○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Interpretation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○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Reference range (with ObservationDefinition)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Use </a:t>
            </a:r>
            <a:r>
              <a:rPr lang="en" sz="18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LOINC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codes for compliance, billing, and reporting.</a:t>
            </a:r>
            <a:endParaRPr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5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Risk Assessment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394" name="Google Shape;394;p55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55"/>
          <p:cNvSpPr txBox="1"/>
          <p:nvPr/>
        </p:nvSpPr>
        <p:spPr>
          <a:xfrm>
            <a:off x="5396300" y="3624900"/>
            <a:ext cx="3196500" cy="11406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Applications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Clinical Prognosis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Infection Risk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Risk due to lifestyle factors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396" name="Google Shape;396;p55"/>
          <p:cNvSpPr txBox="1"/>
          <p:nvPr/>
        </p:nvSpPr>
        <p:spPr>
          <a:xfrm>
            <a:off x="213250" y="1207700"/>
            <a:ext cx="48885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492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900"/>
              <a:buFont typeface="Cairo"/>
              <a:buChar char="●"/>
            </a:pPr>
            <a:r>
              <a:rPr b="1" lang="en" sz="18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RiskAssessment</a:t>
            </a: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Specialized form of Observation used to model </a:t>
            </a: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propensity for an adverse outcome.</a:t>
            </a:r>
            <a:endParaRPr b="1"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Can record </a:t>
            </a: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quantitative risk 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(e.g. 90%) as well as </a:t>
            </a: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qualitative risk 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(e.g. “Very High”).</a:t>
            </a:r>
            <a:endParaRPr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Use </a:t>
            </a:r>
            <a:r>
              <a:rPr lang="en" sz="18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LOINC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codes for compliance, billing, and reporting.</a:t>
            </a:r>
            <a:endParaRPr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6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Condition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02" name="Google Shape;402;p56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6"/>
          <p:cNvSpPr txBox="1"/>
          <p:nvPr/>
        </p:nvSpPr>
        <p:spPr>
          <a:xfrm>
            <a:off x="5396300" y="3132775"/>
            <a:ext cx="3196500" cy="16011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Applications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SDOH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Chronic conditions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Substance Use / Abuse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Mental / Cognitive Impairment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Physical Disability / Impairment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04" name="Google Shape;404;p56"/>
          <p:cNvSpPr txBox="1"/>
          <p:nvPr/>
        </p:nvSpPr>
        <p:spPr>
          <a:xfrm>
            <a:off x="213250" y="1323025"/>
            <a:ext cx="48885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900"/>
              <a:buFont typeface="Cairo"/>
              <a:buChar char="●"/>
            </a:pPr>
            <a:r>
              <a:rPr b="1" lang="en" sz="18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Condition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Records a </a:t>
            </a: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long-term diagnosis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for a patient.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Corresponds to EHR “problems list.”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Records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○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Type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○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Onset / Resolution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○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Severity / Progression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○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Verification Status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Use </a:t>
            </a:r>
            <a:r>
              <a:rPr lang="en" sz="18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ICD-10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codes for interoperability and billing. </a:t>
            </a:r>
            <a:endParaRPr i="1"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05" name="Google Shape;405;p56"/>
          <p:cNvSpPr txBox="1"/>
          <p:nvPr/>
        </p:nvSpPr>
        <p:spPr>
          <a:xfrm>
            <a:off x="5352125" y="1323025"/>
            <a:ext cx="2952900" cy="12486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Reference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Insurance Eligibility Check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Particle Health Integration</a:t>
            </a:r>
            <a:endParaRPr b="1"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57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Allergy Intolerance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11" name="Google Shape;411;p57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7"/>
          <p:cNvSpPr txBox="1"/>
          <p:nvPr/>
        </p:nvSpPr>
        <p:spPr>
          <a:xfrm>
            <a:off x="5396300" y="3624900"/>
            <a:ext cx="3196500" cy="934200"/>
          </a:xfrm>
          <a:prstGeom prst="rect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Applications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Drug allergies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Cairo"/>
              <a:buChar char="●"/>
            </a:pPr>
            <a:r>
              <a:rPr lang="en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Food allergies</a:t>
            </a:r>
            <a:endParaRPr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sp>
        <p:nvSpPr>
          <p:cNvPr id="413" name="Google Shape;413;p57"/>
          <p:cNvSpPr txBox="1"/>
          <p:nvPr/>
        </p:nvSpPr>
        <p:spPr>
          <a:xfrm>
            <a:off x="213250" y="1323025"/>
            <a:ext cx="48885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900"/>
              <a:buFont typeface="Cairo"/>
              <a:buChar char="●"/>
            </a:pPr>
            <a:r>
              <a:rPr b="1" lang="en" sz="18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AllergyIntolerance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Used for a specific type of risk: </a:t>
            </a:r>
            <a:r>
              <a:rPr b="1"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adverse reaction to drug or substance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.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●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Records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○"/>
            </a:pPr>
            <a:r>
              <a:rPr lang="en" sz="16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Type</a:t>
            </a:r>
            <a:endParaRPr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○"/>
            </a:pPr>
            <a:r>
              <a:rPr lang="en" sz="16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Confirmation status</a:t>
            </a:r>
            <a:endParaRPr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○"/>
            </a:pPr>
            <a:r>
              <a:rPr lang="en" sz="16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Manifestation</a:t>
            </a:r>
            <a:endParaRPr sz="16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●"/>
            </a:pPr>
            <a:r>
              <a:rPr lang="en" sz="18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 Core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recommends a combination of </a:t>
            </a:r>
            <a:r>
              <a:rPr lang="en" sz="18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RXNORM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(drug) and SNOMED (substance) codes </a:t>
            </a:r>
            <a:endParaRPr i="1"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8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Medication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19" name="Google Shape;419;p58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58"/>
          <p:cNvSpPr txBox="1"/>
          <p:nvPr/>
        </p:nvSpPr>
        <p:spPr>
          <a:xfrm>
            <a:off x="213250" y="1323025"/>
            <a:ext cx="48885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●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FHIR has multiple resources related to the medication lifecycle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○"/>
            </a:pPr>
            <a:r>
              <a:rPr b="1"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MedicationRequest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- order/prescription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302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○"/>
            </a:pPr>
            <a:r>
              <a:rPr b="1"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MedicationDispense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- drug supplied to patient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○"/>
            </a:pPr>
            <a:r>
              <a:rPr b="1"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MedicationAdministration</a:t>
            </a:r>
            <a:r>
              <a:rPr b="1"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- patient ingests drug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○"/>
            </a:pPr>
            <a:r>
              <a:rPr b="1"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MedicationStatement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- provides a summary statement of drug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 Core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recommends  </a:t>
            </a:r>
            <a:r>
              <a:rPr lang="en" sz="15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MedicationRequest</a:t>
            </a: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to track patient’s medication list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○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Drug code (RXNorm)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○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date/time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○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Supporting reason / diagnosis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○"/>
            </a:pPr>
            <a:r>
              <a:rPr lang="en" sz="15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Dosage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  <p:pic>
        <p:nvPicPr>
          <p:cNvPr id="421" name="Google Shape;421;p5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254150" y="1009800"/>
            <a:ext cx="3737450" cy="3761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6" name="Google Shape;426;p59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735206"/>
            <a:ext cx="1311652" cy="2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59"/>
          <p:cNvSpPr txBox="1"/>
          <p:nvPr/>
        </p:nvSpPr>
        <p:spPr>
          <a:xfrm>
            <a:off x="219456" y="165550"/>
            <a:ext cx="6442200" cy="3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56015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Intake and Assessments</a:t>
            </a:r>
            <a:endParaRPr sz="4800">
              <a:solidFill>
                <a:srgbClr val="56015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56015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56015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56015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60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Assessments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33" name="Google Shape;433;p60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60"/>
          <p:cNvPicPr preferRelativeResize="0"/>
          <p:nvPr/>
        </p:nvPicPr>
        <p:blipFill rotWithShape="1">
          <a:blip r:embed="rId4">
            <a:alphaModFix/>
          </a:blip>
          <a:srcRect b="37847" l="0" r="0" t="36653"/>
          <a:stretch/>
        </p:blipFill>
        <p:spPr>
          <a:xfrm>
            <a:off x="76200" y="1580599"/>
            <a:ext cx="8991600" cy="25110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61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Assessments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40" name="Google Shape;440;p61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61"/>
          <p:cNvSpPr txBox="1"/>
          <p:nvPr/>
        </p:nvSpPr>
        <p:spPr>
          <a:xfrm>
            <a:off x="213250" y="1323025"/>
            <a:ext cx="33462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Questionnaire</a:t>
            </a:r>
            <a:r>
              <a:rPr lang="en"/>
              <a:t>: Definition of questions/answers. 1 per form.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Prefer standard assessments where available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Tag each question / answer with appropriate LOINC codes for reporting. 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LOINC has predefined standard assessments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NLM form builder</a:t>
            </a:r>
            <a:r>
              <a:rPr lang="en" sz="1200"/>
              <a:t> can generate standardized assessments in FHIR format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u="sng">
                <a:solidFill>
                  <a:srgbClr val="0097A7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QuestionnaireResponse</a:t>
            </a:r>
            <a:r>
              <a:rPr lang="en"/>
              <a:t>: Patient’s responses to each question. 1 per patient, per instance.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61"/>
          <p:cNvSpPr txBox="1"/>
          <p:nvPr/>
        </p:nvSpPr>
        <p:spPr>
          <a:xfrm>
            <a:off x="4673025" y="1323025"/>
            <a:ext cx="42333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238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b="1" lang="en" u="sng">
                <a:solidFill>
                  <a:srgbClr val="0097A7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Observation</a:t>
            </a:r>
            <a:r>
              <a:rPr lang="en"/>
              <a:t> &amp; </a:t>
            </a:r>
            <a:r>
              <a:rPr b="1" lang="en" u="sng">
                <a:solidFill>
                  <a:srgbClr val="0097A7"/>
                </a:solidFill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RiskAssessment</a:t>
            </a:r>
            <a:r>
              <a:rPr b="1" lang="en"/>
              <a:t>: </a:t>
            </a:r>
            <a:r>
              <a:rPr lang="en"/>
              <a:t>Structured representations of the point-in-time results </a:t>
            </a:r>
            <a:r>
              <a:rPr lang="en"/>
              <a:t>measured by an assessment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b="1" lang="en" sz="1200">
                <a:solidFill>
                  <a:srgbClr val="000000"/>
                </a:solidFill>
              </a:rPr>
              <a:t>RiskAssessment </a:t>
            </a:r>
            <a:r>
              <a:rPr lang="en" sz="1200">
                <a:solidFill>
                  <a:srgbClr val="000000"/>
                </a:solidFill>
              </a:rPr>
              <a:t>is a specialized form of </a:t>
            </a:r>
            <a:r>
              <a:rPr b="1" lang="en" sz="1200">
                <a:solidFill>
                  <a:srgbClr val="000000"/>
                </a:solidFill>
              </a:rPr>
              <a:t>Observation</a:t>
            </a:r>
            <a:r>
              <a:rPr lang="en" sz="1200">
                <a:solidFill>
                  <a:srgbClr val="000000"/>
                </a:solidFill>
              </a:rPr>
              <a:t>, tailored to propensity measurements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Use Bots to parse </a:t>
            </a:r>
            <a:r>
              <a:rPr b="1" lang="en" sz="1200"/>
              <a:t>QuestionnaireResponse</a:t>
            </a:r>
            <a:r>
              <a:rPr lang="en" sz="1200"/>
              <a:t> and compute scores (</a:t>
            </a:r>
            <a:r>
              <a:rPr lang="en" sz="1200" u="sng">
                <a:solidFill>
                  <a:srgbClr val="0097A7"/>
                </a:solidFill>
                <a:hlinkClick r:id="rId9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Guide</a:t>
            </a:r>
            <a:r>
              <a:rPr lang="en" sz="1200"/>
              <a:t>).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Annotate with LOINC codes for compliance, billing, and reporting.</a:t>
            </a:r>
            <a:endParaRPr sz="1200"/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700"/>
              <a:buFont typeface="Cairo"/>
              <a:buChar char="●"/>
            </a:pPr>
            <a:r>
              <a:rPr b="1" lang="en" u="sng">
                <a:solidFill>
                  <a:srgbClr val="0097A7"/>
                </a:solidFill>
                <a:hlinkClick r:id="rId10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Condition</a:t>
            </a:r>
            <a:r>
              <a:rPr b="1" lang="en"/>
              <a:t>: </a:t>
            </a:r>
            <a:r>
              <a:rPr lang="en"/>
              <a:t>Records a long-term diagnosis for a patient</a:t>
            </a:r>
            <a:endParaRPr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Annotate with ICD-10 codes for billing</a:t>
            </a:r>
            <a:endParaRPr sz="1200"/>
          </a:p>
          <a:p>
            <a:pPr indent="-3048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Use Bots to update status with new information</a:t>
            </a:r>
            <a:endParaRPr sz="12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62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735206"/>
            <a:ext cx="1311652" cy="2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62"/>
          <p:cNvSpPr txBox="1"/>
          <p:nvPr/>
        </p:nvSpPr>
        <p:spPr>
          <a:xfrm>
            <a:off x="219456" y="165550"/>
            <a:ext cx="6442200" cy="31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rgbClr val="560153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Medplum Recommendations</a:t>
            </a:r>
            <a:endParaRPr sz="4800">
              <a:solidFill>
                <a:srgbClr val="56015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56015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56015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800">
              <a:solidFill>
                <a:srgbClr val="560153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63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Overview 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54" name="Google Shape;454;p63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63"/>
          <p:cNvSpPr txBox="1"/>
          <p:nvPr/>
        </p:nvSpPr>
        <p:spPr>
          <a:xfrm>
            <a:off x="213250" y="1323025"/>
            <a:ext cx="33462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Create Questionnaire with link-id fields into matching </a:t>
            </a:r>
            <a:r>
              <a:rPr b="1" lang="en"/>
              <a:t>Openloop Concept ID’s 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Parse QuestionnaireResponse into respective Chart Resources (Observation, AllergyIntolerance, MedicationRequest)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Show information in chart UI 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56" name="Google Shape;456;p63"/>
          <p:cNvGrpSpPr/>
          <p:nvPr/>
        </p:nvGrpSpPr>
        <p:grpSpPr>
          <a:xfrm>
            <a:off x="5990764" y="1953654"/>
            <a:ext cx="2678208" cy="2305056"/>
            <a:chOff x="5515900" y="1416125"/>
            <a:chExt cx="3219000" cy="2770500"/>
          </a:xfrm>
        </p:grpSpPr>
        <p:sp>
          <p:nvSpPr>
            <p:cNvPr id="457" name="Google Shape;457;p63"/>
            <p:cNvSpPr/>
            <p:nvPr/>
          </p:nvSpPr>
          <p:spPr>
            <a:xfrm>
              <a:off x="5515900" y="3263225"/>
              <a:ext cx="3219000" cy="923400"/>
            </a:xfrm>
            <a:prstGeom prst="trapezoid">
              <a:avLst>
                <a:gd fmla="val 58599" name="adj"/>
              </a:avLst>
            </a:prstGeom>
            <a:solidFill>
              <a:srgbClr val="7857C5">
                <a:alpha val="60000"/>
              </a:srgbClr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63"/>
            <p:cNvSpPr/>
            <p:nvPr/>
          </p:nvSpPr>
          <p:spPr>
            <a:xfrm>
              <a:off x="6055400" y="2339675"/>
              <a:ext cx="2142300" cy="923400"/>
            </a:xfrm>
            <a:prstGeom prst="trapezoid">
              <a:avLst>
                <a:gd fmla="val 58599" name="adj"/>
              </a:avLst>
            </a:prstGeom>
            <a:solidFill>
              <a:srgbClr val="946AF9">
                <a:alpha val="60000"/>
              </a:srgbClr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63"/>
            <p:cNvSpPr/>
            <p:nvPr/>
          </p:nvSpPr>
          <p:spPr>
            <a:xfrm>
              <a:off x="6592750" y="1416125"/>
              <a:ext cx="1065300" cy="923400"/>
            </a:xfrm>
            <a:prstGeom prst="triangle">
              <a:avLst>
                <a:gd fmla="val 50000" name="adj"/>
              </a:avLst>
            </a:prstGeom>
            <a:solidFill>
              <a:srgbClr val="40BC25">
                <a:alpha val="60000"/>
              </a:srgbClr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0" name="Google Shape;460;p63"/>
          <p:cNvSpPr txBox="1"/>
          <p:nvPr/>
        </p:nvSpPr>
        <p:spPr>
          <a:xfrm>
            <a:off x="6739300" y="3680450"/>
            <a:ext cx="1181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Structure</a:t>
            </a:r>
            <a:endParaRPr sz="1200">
              <a:solidFill>
                <a:srgbClr val="595959"/>
              </a:solidFill>
              <a:latin typeface="Cairo SemiBold"/>
              <a:ea typeface="Cairo SemiBold"/>
              <a:cs typeface="Cairo SemiBold"/>
              <a:sym typeface="Cairo SemiBold"/>
            </a:endParaRPr>
          </a:p>
        </p:txBody>
      </p:sp>
      <p:sp>
        <p:nvSpPr>
          <p:cNvPr id="461" name="Google Shape;461;p63"/>
          <p:cNvSpPr txBox="1"/>
          <p:nvPr/>
        </p:nvSpPr>
        <p:spPr>
          <a:xfrm>
            <a:off x="6739300" y="2920400"/>
            <a:ext cx="1181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Terminology</a:t>
            </a:r>
            <a:endParaRPr sz="1200">
              <a:solidFill>
                <a:srgbClr val="595959"/>
              </a:solidFill>
              <a:latin typeface="Cairo SemiBold"/>
              <a:ea typeface="Cairo SemiBold"/>
              <a:cs typeface="Cairo SemiBold"/>
              <a:sym typeface="Cairo SemiBold"/>
            </a:endParaRPr>
          </a:p>
        </p:txBody>
      </p:sp>
      <p:sp>
        <p:nvSpPr>
          <p:cNvPr id="462" name="Google Shape;462;p63"/>
          <p:cNvSpPr txBox="1"/>
          <p:nvPr/>
        </p:nvSpPr>
        <p:spPr>
          <a:xfrm>
            <a:off x="6739325" y="2369900"/>
            <a:ext cx="11811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595959"/>
                </a:solidFill>
                <a:latin typeface="Cairo SemiBold"/>
                <a:ea typeface="Cairo SemiBold"/>
                <a:cs typeface="Cairo SemiBold"/>
                <a:sym typeface="Cairo SemiBold"/>
              </a:rPr>
              <a:t>Lifecycle</a:t>
            </a:r>
            <a:endParaRPr sz="1200">
              <a:solidFill>
                <a:srgbClr val="595959"/>
              </a:solidFill>
              <a:latin typeface="Cairo SemiBold"/>
              <a:ea typeface="Cairo SemiBold"/>
              <a:cs typeface="Cairo SemiBold"/>
              <a:sym typeface="Cairo SemiBol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64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Map Concept ID’s to FHIR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68" name="Google Shape;468;p64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9" name="Google Shape;469;p64"/>
          <p:cNvGraphicFramePr/>
          <p:nvPr/>
        </p:nvGraphicFramePr>
        <p:xfrm>
          <a:off x="116988" y="70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{5804789C-9DAA-4647-B804-00F09051721B}</a:tableStyleId>
              </a:tblPr>
              <a:tblGrid>
                <a:gridCol w="2177325"/>
                <a:gridCol w="1525300"/>
                <a:gridCol w="5069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OL Concept ID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FHIR Resource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Notes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101: basic_mwl_eligbility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102: sync_visit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103: clearance_required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104: weight_goal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description/category: custom ValueSet, representing goal type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105: height_feet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106: height_inches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109: height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Observation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Code: LOINC code 8302-2, found in Valueset Selector tool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107: weight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Observation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code: LOINC </a:t>
                      </a:r>
                      <a:r>
                        <a:rPr lang="en" u="sng">
                          <a:solidFill>
                            <a:schemeClr val="hlink"/>
                          </a:solidFill>
                          <a:hlinkClick r:id="rId4"/>
                        </a:rPr>
                        <a:t>code 29463-7</a:t>
                      </a:r>
                      <a:r>
                        <a:rPr lang="en"/>
                        <a:t>, found in Valueset Selector tool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108: bmi 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Observation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code: LOINC code 39156-5, found in Valueset Selector tool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110: comorbidity_required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Observation/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Condition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code: from custom ValueSet of LOINC codes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5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Map Concept ID’s to FHIR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75" name="Google Shape;475;p65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76" name="Google Shape;476;p65"/>
          <p:cNvGraphicFramePr/>
          <p:nvPr/>
        </p:nvGraphicFramePr>
        <p:xfrm>
          <a:off x="116988" y="7079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{5804789C-9DAA-4647-B804-00F09051721B}</a:tableStyleId>
              </a:tblPr>
              <a:tblGrid>
                <a:gridCol w="3308550"/>
                <a:gridCol w="1981025"/>
                <a:gridCol w="34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OL Concept ID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FHIR Resource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Notes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111: gender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Patient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</a:t>
                      </a:r>
                      <a:r>
                        <a:rPr lang="en"/>
                        <a:t>ender: gender field on Patient, or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</a:t>
                      </a:r>
                      <a:r>
                        <a:rPr lang="en"/>
                        <a:t>xtension: </a:t>
                      </a:r>
                      <a:r>
                        <a:rPr lang="en" u="sng">
                          <a:solidFill>
                            <a:schemeClr val="hlink"/>
                          </a:solidFill>
                          <a:hlinkClick r:id="rId4"/>
                        </a:rPr>
                        <a:t>US Core gender extensions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112: date_of_birth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113: age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Patient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birthDate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114: state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Patient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</a:t>
                      </a:r>
                      <a:r>
                        <a:rPr lang="en"/>
                        <a:t>ddress: may need full address for Dosespot 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115: main_reason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411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116: medication_exclusion_criteria</a:t>
                      </a:r>
                      <a:endParaRPr sz="7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/>
                        <a:t>117: prior_weight_loss_meds_use</a:t>
                      </a:r>
                      <a:endParaRPr sz="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MedicationRequest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120: medication_allergies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AllergyIntolerance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</a:t>
                      </a:r>
                      <a:r>
                        <a:rPr lang="en"/>
                        <a:t>ode: RxNorm codes, see </a:t>
                      </a:r>
                      <a:r>
                        <a:rPr lang="en" u="sng">
                          <a:solidFill>
                            <a:schemeClr val="hlink"/>
                          </a:solidFill>
                          <a:hlinkClick r:id="rId5"/>
                        </a:rPr>
                        <a:t>Dosespot docs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9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121: allergy_medication_description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AllergyIntolerance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</a:t>
                      </a:r>
                      <a:r>
                        <a:rPr lang="en"/>
                        <a:t>eaction: </a:t>
                      </a:r>
                      <a:r>
                        <a:rPr lang="en" u="sng">
                          <a:solidFill>
                            <a:schemeClr val="hlink"/>
                          </a:solidFill>
                          <a:hlinkClick r:id="rId6"/>
                        </a:rPr>
                        <a:t>SNOMED clinical findings</a:t>
                      </a:r>
                      <a:r>
                        <a:rPr lang="en"/>
                        <a:t> 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66"/>
          <p:cNvSpPr txBox="1"/>
          <p:nvPr/>
        </p:nvSpPr>
        <p:spPr>
          <a:xfrm>
            <a:off x="222300" y="165550"/>
            <a:ext cx="8743500" cy="97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Thank You!</a:t>
            </a:r>
            <a:endParaRPr sz="48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82" name="Google Shape;482;p66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735206"/>
            <a:ext cx="1311652" cy="28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67"/>
          <p:cNvPicPr preferRelativeResize="0"/>
          <p:nvPr/>
        </p:nvPicPr>
        <p:blipFill rotWithShape="1">
          <a:blip r:embed="rId3">
            <a:alphaModFix/>
          </a:blip>
          <a:srcRect b="19452" l="0" r="0" t="0"/>
          <a:stretch/>
        </p:blipFill>
        <p:spPr>
          <a:xfrm>
            <a:off x="1152625" y="227675"/>
            <a:ext cx="6838750" cy="468815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67"/>
          <p:cNvSpPr txBox="1"/>
          <p:nvPr/>
        </p:nvSpPr>
        <p:spPr>
          <a:xfrm>
            <a:off x="0" y="0"/>
            <a:ext cx="3000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https://www.medplum.com/docs/fhir-basics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68"/>
          <p:cNvSpPr txBox="1"/>
          <p:nvPr/>
        </p:nvSpPr>
        <p:spPr>
          <a:xfrm>
            <a:off x="219447" y="189875"/>
            <a:ext cx="78462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Immunizations</a:t>
            </a:r>
            <a:endParaRPr sz="3200">
              <a:solidFill>
                <a:schemeClr val="accent1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pic>
        <p:nvPicPr>
          <p:cNvPr id="494" name="Google Shape;494;p68" title="medplum_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0350" y="4815813"/>
            <a:ext cx="818904" cy="177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5" name="Google Shape;495;p68"/>
          <p:cNvSpPr txBox="1"/>
          <p:nvPr/>
        </p:nvSpPr>
        <p:spPr>
          <a:xfrm>
            <a:off x="213250" y="1323025"/>
            <a:ext cx="4888500" cy="37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600"/>
              <a:buFont typeface="Cairo"/>
              <a:buChar char="●"/>
            </a:pPr>
            <a:r>
              <a:rPr b="1" lang="en" sz="18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Immunization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: Similar to MedicationStatement, but for vaccine records </a:t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Records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○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Type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○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Administration Date 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○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Dosage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○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Route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Cairo"/>
              <a:buChar char="○"/>
            </a:pP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Reactions</a:t>
            </a:r>
            <a:endParaRPr sz="18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"/>
              <a:buFont typeface="Cairo"/>
              <a:buChar char="●"/>
            </a:pPr>
            <a:r>
              <a:rPr lang="en" sz="18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US Core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recommends using the </a:t>
            </a:r>
            <a:r>
              <a:rPr lang="en" sz="1800" u="sng">
                <a:solidFill>
                  <a:srgbClr val="0097A7"/>
                </a:solidFill>
                <a:latin typeface="Cairo"/>
                <a:ea typeface="Cairo"/>
                <a:cs typeface="Cairo"/>
                <a:sym typeface="Cairo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CVX</a:t>
            </a:r>
            <a:r>
              <a:rPr lang="en" sz="1800">
                <a:solidFill>
                  <a:srgbClr val="424242"/>
                </a:solidFill>
                <a:latin typeface="Cairo"/>
                <a:ea typeface="Cairo"/>
                <a:cs typeface="Cairo"/>
                <a:sym typeface="Cairo"/>
              </a:rPr>
              <a:t> code system for vaccine type</a:t>
            </a:r>
            <a:endParaRPr i="1" sz="1500">
              <a:solidFill>
                <a:srgbClr val="424242"/>
              </a:solidFill>
              <a:latin typeface="Cairo"/>
              <a:ea typeface="Cairo"/>
              <a:cs typeface="Cairo"/>
              <a:sym typeface="Cai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edplum">
  <a:themeElements>
    <a:clrScheme name="White">
      <a:dk1>
        <a:srgbClr val="181818"/>
      </a:dk1>
      <a:lt1>
        <a:srgbClr val="FFFAE8"/>
      </a:lt1>
      <a:dk2>
        <a:srgbClr val="FFE999"/>
      </a:dk2>
      <a:lt2>
        <a:srgbClr val="FFBE67"/>
      </a:lt2>
      <a:accent1>
        <a:srgbClr val="560153"/>
      </a:accent1>
      <a:accent2>
        <a:srgbClr val="721F6F"/>
      </a:accent2>
      <a:accent3>
        <a:srgbClr val="C67DFF"/>
      </a:accent3>
      <a:accent4>
        <a:srgbClr val="EDDEFF"/>
      </a:accent4>
      <a:accent5>
        <a:srgbClr val="9EA9FD"/>
      </a:accent5>
      <a:accent6>
        <a:srgbClr val="D9DDFF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