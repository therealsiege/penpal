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75" r:id="rId4"/>
    <p:sldMasterId id="2147483776" r:id="rId5"/>
    <p:sldMasterId id="2147483777" r:id="rId6"/>
    <p:sldMasterId id="2147483778" r:id="rId7"/>
    <p:sldMasterId id="2147483779" r:id="rId8"/>
    <p:sldMasterId id="2147483780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y="5143500" cx="9144000"/>
  <p:notesSz cx="6858000" cy="9144000"/>
  <p:embeddedFontLst>
    <p:embeddedFont>
      <p:font typeface="Spline Sans"/>
      <p:regular r:id="rId24"/>
      <p:bold r:id="rId25"/>
    </p:embeddedFont>
    <p:embeddedFont>
      <p:font typeface="Poppins"/>
      <p:regular r:id="rId26"/>
      <p:bold r:id="rId27"/>
      <p:italic r:id="rId28"/>
      <p:boldItalic r:id="rId29"/>
    </p:embeddedFont>
    <p:embeddedFont>
      <p:font typeface="Cairo"/>
      <p:regular r:id="rId30"/>
      <p:bold r:id="rId31"/>
    </p:embeddedFont>
    <p:embeddedFont>
      <p:font typeface="Poppins Medium"/>
      <p:regular r:id="rId32"/>
      <p:bold r:id="rId33"/>
      <p:italic r:id="rId34"/>
      <p:boldItalic r:id="rId35"/>
    </p:embeddedFont>
    <p:embeddedFont>
      <p:font typeface="Poppins SemiBold"/>
      <p:regular r:id="rId36"/>
      <p:bold r:id="rId37"/>
      <p:italic r:id="rId38"/>
      <p:boldItalic r:id="rId39"/>
    </p:embeddedFont>
    <p:embeddedFont>
      <p:font typeface="Helvetica Neue Light"/>
      <p:regular r:id="rId40"/>
      <p:bold r:id="rId41"/>
      <p:italic r:id="rId42"/>
      <p:boldItalic r:id="rId43"/>
    </p:embeddedFont>
    <p:embeddedFont>
      <p:font typeface="Roboto Mono"/>
      <p:regular r:id="rId44"/>
      <p:bold r:id="rId45"/>
      <p:italic r:id="rId46"/>
      <p:boldItalic r:id="rId47"/>
    </p:embeddedFont>
    <p:embeddedFont>
      <p:font typeface="Barlow"/>
      <p:regular r:id="rId48"/>
      <p:bold r:id="rId49"/>
      <p:italic r:id="rId50"/>
      <p:boldItalic r:id="rId51"/>
    </p:embeddedFont>
    <p:embeddedFont>
      <p:font typeface="Courier Prime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Light-regular.fntdata"/><Relationship Id="rId42" Type="http://schemas.openxmlformats.org/officeDocument/2006/relationships/font" Target="fonts/HelveticaNeueLight-italic.fntdata"/><Relationship Id="rId41" Type="http://schemas.openxmlformats.org/officeDocument/2006/relationships/font" Target="fonts/HelveticaNeueLight-bold.fntdata"/><Relationship Id="rId44" Type="http://schemas.openxmlformats.org/officeDocument/2006/relationships/font" Target="fonts/RobotoMono-regular.fntdata"/><Relationship Id="rId43" Type="http://schemas.openxmlformats.org/officeDocument/2006/relationships/font" Target="fonts/HelveticaNeueLight-boldItalic.fntdata"/><Relationship Id="rId46" Type="http://schemas.openxmlformats.org/officeDocument/2006/relationships/font" Target="fonts/RobotoMono-italic.fntdata"/><Relationship Id="rId45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font" Target="fonts/Barlow-regular.fntdata"/><Relationship Id="rId47" Type="http://schemas.openxmlformats.org/officeDocument/2006/relationships/font" Target="fonts/RobotoMono-boldItalic.fntdata"/><Relationship Id="rId49" Type="http://schemas.openxmlformats.org/officeDocument/2006/relationships/font" Target="fonts/Barlow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font" Target="fonts/Cairo-bold.fntdata"/><Relationship Id="rId30" Type="http://schemas.openxmlformats.org/officeDocument/2006/relationships/font" Target="fonts/Cairo-regular.fntdata"/><Relationship Id="rId33" Type="http://schemas.openxmlformats.org/officeDocument/2006/relationships/font" Target="fonts/PoppinsMedium-bold.fntdata"/><Relationship Id="rId32" Type="http://schemas.openxmlformats.org/officeDocument/2006/relationships/font" Target="fonts/PoppinsMedium-regular.fntdata"/><Relationship Id="rId35" Type="http://schemas.openxmlformats.org/officeDocument/2006/relationships/font" Target="fonts/PoppinsMedium-boldItalic.fntdata"/><Relationship Id="rId34" Type="http://schemas.openxmlformats.org/officeDocument/2006/relationships/font" Target="fonts/PoppinsMedium-italic.fntdata"/><Relationship Id="rId37" Type="http://schemas.openxmlformats.org/officeDocument/2006/relationships/font" Target="fonts/PoppinsSemiBold-bold.fntdata"/><Relationship Id="rId36" Type="http://schemas.openxmlformats.org/officeDocument/2006/relationships/font" Target="fonts/PoppinsSemiBold-regular.fntdata"/><Relationship Id="rId39" Type="http://schemas.openxmlformats.org/officeDocument/2006/relationships/font" Target="fonts/PoppinsSemiBold-boldItalic.fntdata"/><Relationship Id="rId38" Type="http://schemas.openxmlformats.org/officeDocument/2006/relationships/font" Target="fonts/PoppinsSemiBold-italic.fntdata"/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font" Target="fonts/SplineSans-regular.fntdata"/><Relationship Id="rId23" Type="http://schemas.openxmlformats.org/officeDocument/2006/relationships/slide" Target="slides/slide13.xml"/><Relationship Id="rId26" Type="http://schemas.openxmlformats.org/officeDocument/2006/relationships/font" Target="fonts/Poppins-regular.fntdata"/><Relationship Id="rId25" Type="http://schemas.openxmlformats.org/officeDocument/2006/relationships/font" Target="fonts/SplineSans-bold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29" Type="http://schemas.openxmlformats.org/officeDocument/2006/relationships/font" Target="fonts/Poppins-boldItalic.fntdata"/><Relationship Id="rId51" Type="http://schemas.openxmlformats.org/officeDocument/2006/relationships/font" Target="fonts/Barlow-boldItalic.fntdata"/><Relationship Id="rId50" Type="http://schemas.openxmlformats.org/officeDocument/2006/relationships/font" Target="fonts/Barlow-italic.fntdata"/><Relationship Id="rId53" Type="http://schemas.openxmlformats.org/officeDocument/2006/relationships/font" Target="fonts/CourierPrime-bold.fntdata"/><Relationship Id="rId52" Type="http://schemas.openxmlformats.org/officeDocument/2006/relationships/font" Target="fonts/CourierPrime-regular.fntdata"/><Relationship Id="rId11" Type="http://schemas.openxmlformats.org/officeDocument/2006/relationships/slide" Target="slides/slide1.xml"/><Relationship Id="rId55" Type="http://schemas.openxmlformats.org/officeDocument/2006/relationships/font" Target="fonts/CourierPrime-boldItalic.fntdata"/><Relationship Id="rId10" Type="http://schemas.openxmlformats.org/officeDocument/2006/relationships/notesMaster" Target="notesMasters/notesMaster1.xml"/><Relationship Id="rId54" Type="http://schemas.openxmlformats.org/officeDocument/2006/relationships/font" Target="fonts/CourierPrime-italic.fntdata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b7f25c6495_0_1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3b7f25c6495_0_1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b7f25c6495_0_1329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2" name="Google Shape;942;g3b7f25c6495_0_1329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g3b7f25c6495_0_1329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b7f25c6495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b7f25c6495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b7f25c6495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b7f25c6495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b7daa2d328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b7daa2d328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b7f25c6495_0_1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3b7f25c6495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b7f25c6495_0_1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3b7f25c6495_0_1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b7f25c6495_0_1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b7f25c6495_0_1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b7f25c6495_0_1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3b7f25c6495_0_1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b7f25c64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3b7f25c64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b7f25c6495_0_1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3b7f25c6495_0_1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b7f25c6495_0_1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3b7f25c6495_0_1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b7f25c6495_0_1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3b7f25c6495_0_1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1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bg>
      <p:bgPr>
        <a:solidFill>
          <a:schemeClr val="accent6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540388" y="4652050"/>
            <a:ext cx="333600" cy="138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algn="r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algn="r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algn="r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algn="r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algn="r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algn="r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algn="r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algn="r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4"/>
          <p:cNvSpPr txBox="1"/>
          <p:nvPr/>
        </p:nvSpPr>
        <p:spPr>
          <a:xfrm>
            <a:off x="3167300" y="113675"/>
            <a:ext cx="42288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Build your own </a:t>
            </a:r>
            <a:b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EHR Integrating using Open Source</a:t>
            </a:r>
            <a:endParaRPr b="0" sz="3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55" name="Google Shape;55;p14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45975"/>
            <a:ext cx="1311652" cy="28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7933350" y="4501425"/>
            <a:ext cx="990300" cy="325525"/>
            <a:chOff x="3188350" y="2350300"/>
            <a:chExt cx="990300" cy="325525"/>
          </a:xfrm>
        </p:grpSpPr>
        <p:sp>
          <p:nvSpPr>
            <p:cNvPr id="57" name="Google Shape;57;p14"/>
            <p:cNvSpPr/>
            <p:nvPr/>
          </p:nvSpPr>
          <p:spPr>
            <a:xfrm>
              <a:off x="3188350" y="2392325"/>
              <a:ext cx="990300" cy="28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3188350" y="2350300"/>
              <a:ext cx="9903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Webinar</a:t>
              </a:r>
              <a:endPara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9" name="Google Shape;59;p14"/>
          <p:cNvSpPr txBox="1"/>
          <p:nvPr/>
        </p:nvSpPr>
        <p:spPr>
          <a:xfrm>
            <a:off x="3073400" y="4597650"/>
            <a:ext cx="2426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Sep 21, 2023–1pm PT, 4pm ET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5"/>
          <p:cNvGrpSpPr/>
          <p:nvPr/>
        </p:nvGrpSpPr>
        <p:grpSpPr>
          <a:xfrm>
            <a:off x="4792950" y="4395575"/>
            <a:ext cx="990300" cy="325525"/>
            <a:chOff x="4792950" y="4547975"/>
            <a:chExt cx="990300" cy="325525"/>
          </a:xfrm>
        </p:grpSpPr>
        <p:sp>
          <p:nvSpPr>
            <p:cNvPr id="62" name="Google Shape;62;p15"/>
            <p:cNvSpPr/>
            <p:nvPr/>
          </p:nvSpPr>
          <p:spPr>
            <a:xfrm>
              <a:off x="4792950" y="4590000"/>
              <a:ext cx="990300" cy="2835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5"/>
            <p:cNvSpPr txBox="1"/>
            <p:nvPr/>
          </p:nvSpPr>
          <p:spPr>
            <a:xfrm>
              <a:off x="4792950" y="4547975"/>
              <a:ext cx="9903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Webinar</a:t>
              </a:r>
              <a:endPara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4" name="Google Shape;64;p15"/>
          <p:cNvSpPr/>
          <p:nvPr/>
        </p:nvSpPr>
        <p:spPr>
          <a:xfrm>
            <a:off x="0" y="0"/>
            <a:ext cx="4568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220350" y="180000"/>
            <a:ext cx="3570300" cy="9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Build your own </a:t>
            </a:r>
            <a:b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EHR Integrating using Open Source</a:t>
            </a:r>
            <a:endParaRPr b="0" sz="2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66" name="Google Shape;66;p15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22455" y="4451315"/>
            <a:ext cx="990301" cy="214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 title="img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96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title="img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24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img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52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6317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Alex Goel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CEO Technology Health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61045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Reshma Khilnani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CEO Medplum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75598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Johs Leben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CTO Topology Health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" name="Google Shape;73;p15" title="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6668" y="4123525"/>
            <a:ext cx="594075" cy="59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chemeClr val="accent5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3167325" y="1920150"/>
            <a:ext cx="36924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source/demos of these today!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157025" y="1954275"/>
            <a:ext cx="858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bg>
      <p:bgPr>
        <a:solidFill>
          <a:schemeClr val="accent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3167325" y="1920150"/>
            <a:ext cx="36924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157025" y="1954275"/>
            <a:ext cx="1446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_2_1">
    <p:bg>
      <p:bgPr>
        <a:solidFill>
          <a:schemeClr val="lt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3167325" y="2066775"/>
            <a:ext cx="3692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157025" y="1954275"/>
            <a:ext cx="15369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">
  <p:cSld name="Blank_1_1_1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source/demos of these today!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1" name="Google Shape;91;p19"/>
          <p:cNvSpPr txBox="1"/>
          <p:nvPr/>
        </p:nvSpPr>
        <p:spPr>
          <a:xfrm>
            <a:off x="8163125" y="180000"/>
            <a:ext cx="8190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2" name="Google Shape;92;p19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">
  <p:cSld name="Blank_1_1_1_1">
    <p:bg>
      <p:bgPr>
        <a:solidFill>
          <a:schemeClr val="accent4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7917450" y="180000"/>
            <a:ext cx="10062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">
  <p:cSld name="Blank_1_1_1_1_1">
    <p:bg>
      <p:bgPr>
        <a:solidFill>
          <a:schemeClr val="accent6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1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1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21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3" name="Google Shape;103;p21"/>
          <p:cNvSpPr txBox="1"/>
          <p:nvPr/>
        </p:nvSpPr>
        <p:spPr>
          <a:xfrm>
            <a:off x="7975975" y="180000"/>
            <a:ext cx="10062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">
  <p:cSld name="Blank_1_1_1_1_1_1"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/>
        </p:nvSpPr>
        <p:spPr>
          <a:xfrm>
            <a:off x="177275" y="1799150"/>
            <a:ext cx="72729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 demos of these today!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6" name="Google Shape;106;p22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07" name="Google Shape;107;p22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">
  <p:cSld name="Blank_1_1_1_1_1_1_1">
    <p:bg>
      <p:bgPr>
        <a:solidFill>
          <a:schemeClr val="accent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/>
        </p:nvSpPr>
        <p:spPr>
          <a:xfrm>
            <a:off x="177275" y="1799150"/>
            <a:ext cx="64596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1" name="Google Shape;111;p23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12" name="Google Shape;112;p23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3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">
  <p:cSld name="Blank_1_1_1_1_1_1_1_1">
    <p:bg>
      <p:bgPr>
        <a:solidFill>
          <a:schemeClr val="accent6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/>
        </p:nvSpPr>
        <p:spPr>
          <a:xfrm>
            <a:off x="177275" y="1799150"/>
            <a:ext cx="645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6" name="Google Shape;116;p24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17" name="Google Shape;117;p24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4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 1">
  <p:cSld name="Blank_1_1_1_1_1_1_1_1_1">
    <p:bg>
      <p:bgPr>
        <a:solidFill>
          <a:schemeClr val="accent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/>
        </p:nvSpPr>
        <p:spPr>
          <a:xfrm>
            <a:off x="3188350" y="1714505"/>
            <a:ext cx="4230600" cy="17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Medplum offers FHIR infrastructure with integrated IDP, integration tools and flexible deployment options</a:t>
            </a: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25" title="medplum logo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0000" y="1714509"/>
            <a:ext cx="818899" cy="17699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5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 1 1">
  <p:cSld name="Blank_1_1_1_1_1_1_1_1_1_1">
    <p:bg>
      <p:bgPr>
        <a:solidFill>
          <a:schemeClr val="dk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6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6"/>
          <p:cNvSpPr txBox="1"/>
          <p:nvPr/>
        </p:nvSpPr>
        <p:spPr>
          <a:xfrm>
            <a:off x="3167325" y="220975"/>
            <a:ext cx="4282800" cy="17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Medplum offers FHIR infrastructure with integrated IDP, integration tools and flexible deployment options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26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/>
          <p:nvPr/>
        </p:nvSpPr>
        <p:spPr>
          <a:xfrm>
            <a:off x="2332325" y="179788"/>
            <a:ext cx="6591300" cy="138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7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7"/>
          <p:cNvSpPr txBox="1"/>
          <p:nvPr/>
        </p:nvSpPr>
        <p:spPr>
          <a:xfrm>
            <a:off x="220350" y="180000"/>
            <a:ext cx="1463100" cy="1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Scaling Tiers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27"/>
          <p:cNvSpPr/>
          <p:nvPr/>
        </p:nvSpPr>
        <p:spPr>
          <a:xfrm>
            <a:off x="2332325" y="3114150"/>
            <a:ext cx="6591300" cy="138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" name="Google Shape;132;p27"/>
          <p:cNvCxnSpPr/>
          <p:nvPr/>
        </p:nvCxnSpPr>
        <p:spPr>
          <a:xfrm>
            <a:off x="4187750" y="439438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7"/>
          <p:cNvCxnSpPr/>
          <p:nvPr/>
        </p:nvCxnSpPr>
        <p:spPr>
          <a:xfrm>
            <a:off x="6114275" y="439438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27"/>
          <p:cNvSpPr txBox="1"/>
          <p:nvPr/>
        </p:nvSpPr>
        <p:spPr>
          <a:xfrm>
            <a:off x="6368375" y="508075"/>
            <a:ext cx="15666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+$4K</a:t>
            </a:r>
            <a:endParaRPr sz="4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27"/>
          <p:cNvSpPr txBox="1"/>
          <p:nvPr/>
        </p:nvSpPr>
        <p:spPr>
          <a:xfrm>
            <a:off x="7884850" y="839375"/>
            <a:ext cx="8190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/ month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27"/>
          <p:cNvSpPr txBox="1"/>
          <p:nvPr/>
        </p:nvSpPr>
        <p:spPr>
          <a:xfrm>
            <a:off x="4503188" y="702175"/>
            <a:ext cx="1425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2M-3M Patients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7"/>
          <p:cNvSpPr txBox="1"/>
          <p:nvPr/>
        </p:nvSpPr>
        <p:spPr>
          <a:xfrm>
            <a:off x="2938550" y="709825"/>
            <a:ext cx="583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Tier 1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8" name="Google Shape;138;p27"/>
          <p:cNvGrpSpPr/>
          <p:nvPr/>
        </p:nvGrpSpPr>
        <p:grpSpPr>
          <a:xfrm>
            <a:off x="2332325" y="1646975"/>
            <a:ext cx="6591300" cy="1385100"/>
            <a:chOff x="2332325" y="1613813"/>
            <a:chExt cx="6591300" cy="1385100"/>
          </a:xfrm>
        </p:grpSpPr>
        <p:sp>
          <p:nvSpPr>
            <p:cNvPr id="139" name="Google Shape;139;p27"/>
            <p:cNvSpPr/>
            <p:nvPr/>
          </p:nvSpPr>
          <p:spPr>
            <a:xfrm>
              <a:off x="2332325" y="1613813"/>
              <a:ext cx="6591300" cy="13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0" name="Google Shape;140;p27"/>
            <p:cNvCxnSpPr/>
            <p:nvPr/>
          </p:nvCxnSpPr>
          <p:spPr>
            <a:xfrm>
              <a:off x="4187750" y="1873463"/>
              <a:ext cx="0" cy="86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27"/>
            <p:cNvCxnSpPr/>
            <p:nvPr/>
          </p:nvCxnSpPr>
          <p:spPr>
            <a:xfrm>
              <a:off x="6114275" y="1873463"/>
              <a:ext cx="0" cy="86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" name="Google Shape;142;p27"/>
            <p:cNvSpPr txBox="1"/>
            <p:nvPr/>
          </p:nvSpPr>
          <p:spPr>
            <a:xfrm>
              <a:off x="6386375" y="2037513"/>
              <a:ext cx="1530600" cy="5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4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+$8K</a:t>
              </a:r>
              <a:endParaRPr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" name="Google Shape;143;p27"/>
            <p:cNvSpPr txBox="1"/>
            <p:nvPr/>
          </p:nvSpPr>
          <p:spPr>
            <a:xfrm>
              <a:off x="7884850" y="2347300"/>
              <a:ext cx="8190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/ month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" name="Google Shape;144;p27"/>
            <p:cNvSpPr txBox="1"/>
            <p:nvPr/>
          </p:nvSpPr>
          <p:spPr>
            <a:xfrm>
              <a:off x="4503188" y="2231600"/>
              <a:ext cx="1425600" cy="19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3M-4M Patients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" name="Google Shape;145;p27"/>
            <p:cNvSpPr txBox="1"/>
            <p:nvPr/>
          </p:nvSpPr>
          <p:spPr>
            <a:xfrm>
              <a:off x="2938550" y="2239250"/>
              <a:ext cx="5835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Tier 2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cxnSp>
        <p:nvCxnSpPr>
          <p:cNvPr id="146" name="Google Shape;146;p27"/>
          <p:cNvCxnSpPr/>
          <p:nvPr/>
        </p:nvCxnSpPr>
        <p:spPr>
          <a:xfrm>
            <a:off x="4187744" y="3373800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7"/>
          <p:cNvCxnSpPr/>
          <p:nvPr/>
        </p:nvCxnSpPr>
        <p:spPr>
          <a:xfrm>
            <a:off x="6114269" y="3373800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7"/>
          <p:cNvSpPr txBox="1"/>
          <p:nvPr/>
        </p:nvSpPr>
        <p:spPr>
          <a:xfrm>
            <a:off x="6368375" y="3524150"/>
            <a:ext cx="16242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+$12K</a:t>
            </a:r>
            <a:endParaRPr sz="4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7958251" y="3851600"/>
            <a:ext cx="965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/ month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4503207" y="3682700"/>
            <a:ext cx="1425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4M-5M Patients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2938550" y="3706100"/>
            <a:ext cx="5835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Tier 3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2" name="Google Shape;152;p27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7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/>
          <p:nvPr/>
        </p:nvSpPr>
        <p:spPr>
          <a:xfrm>
            <a:off x="3167325" y="1985375"/>
            <a:ext cx="5756400" cy="100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8"/>
          <p:cNvSpPr/>
          <p:nvPr/>
        </p:nvSpPr>
        <p:spPr>
          <a:xfrm>
            <a:off x="3167325" y="823338"/>
            <a:ext cx="5756400" cy="100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8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8"/>
          <p:cNvSpPr txBox="1"/>
          <p:nvPr/>
        </p:nvSpPr>
        <p:spPr>
          <a:xfrm>
            <a:off x="220350" y="180000"/>
            <a:ext cx="1463100" cy="1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 Notable Things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28"/>
          <p:cNvSpPr/>
          <p:nvPr/>
        </p:nvSpPr>
        <p:spPr>
          <a:xfrm>
            <a:off x="3167325" y="3147425"/>
            <a:ext cx="5756400" cy="1002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 txBox="1"/>
          <p:nvPr/>
        </p:nvSpPr>
        <p:spPr>
          <a:xfrm>
            <a:off x="3167325" y="180000"/>
            <a:ext cx="3515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 Notable Things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3487175" y="1066250"/>
            <a:ext cx="517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3417300" y="2196000"/>
            <a:ext cx="733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3417300" y="3369425"/>
            <a:ext cx="733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6114275" y="1249250"/>
            <a:ext cx="2767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Server-to-server connections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6114275" y="2308050"/>
            <a:ext cx="2767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Medplum Bot - authenticate via JWT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6114275" y="3481475"/>
            <a:ext cx="2767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Standard-ish FHIR API, similar to Medplum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p28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8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9"/>
          <p:cNvSpPr txBox="1"/>
          <p:nvPr/>
        </p:nvSpPr>
        <p:spPr>
          <a:xfrm>
            <a:off x="3134475" y="180000"/>
            <a:ext cx="1561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Demos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220350" y="180000"/>
            <a:ext cx="14631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29"/>
          <p:cNvSpPr/>
          <p:nvPr/>
        </p:nvSpPr>
        <p:spPr>
          <a:xfrm>
            <a:off x="220350" y="1435200"/>
            <a:ext cx="2809500" cy="2279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9"/>
          <p:cNvSpPr/>
          <p:nvPr/>
        </p:nvSpPr>
        <p:spPr>
          <a:xfrm>
            <a:off x="3160200" y="1435200"/>
            <a:ext cx="2809500" cy="227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9"/>
          <p:cNvSpPr/>
          <p:nvPr/>
        </p:nvSpPr>
        <p:spPr>
          <a:xfrm>
            <a:off x="6114275" y="1435200"/>
            <a:ext cx="2809500" cy="2279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9"/>
          <p:cNvSpPr txBox="1"/>
          <p:nvPr/>
        </p:nvSpPr>
        <p:spPr>
          <a:xfrm>
            <a:off x="445650" y="1637400"/>
            <a:ext cx="5175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3385500" y="1637400"/>
            <a:ext cx="7335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29"/>
          <p:cNvSpPr txBox="1"/>
          <p:nvPr/>
        </p:nvSpPr>
        <p:spPr>
          <a:xfrm>
            <a:off x="6339575" y="1637400"/>
            <a:ext cx="5988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445650" y="2849525"/>
            <a:ext cx="23589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Super simple: read a single patient from Epic (backend system)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80" name="Google Shape;180;p29"/>
          <p:cNvCxnSpPr/>
          <p:nvPr/>
        </p:nvCxnSpPr>
        <p:spPr>
          <a:xfrm>
            <a:off x="445650" y="2695275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9"/>
          <p:cNvCxnSpPr/>
          <p:nvPr/>
        </p:nvCxnSpPr>
        <p:spPr>
          <a:xfrm>
            <a:off x="3385500" y="2695275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9"/>
          <p:cNvCxnSpPr/>
          <p:nvPr/>
        </p:nvCxnSpPr>
        <p:spPr>
          <a:xfrm>
            <a:off x="6339575" y="2695850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9"/>
          <p:cNvSpPr txBox="1"/>
          <p:nvPr/>
        </p:nvSpPr>
        <p:spPr>
          <a:xfrm>
            <a:off x="3385500" y="2849525"/>
            <a:ext cx="23589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HL7: Process ADT Feed message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29"/>
          <p:cNvSpPr txBox="1"/>
          <p:nvPr/>
        </p:nvSpPr>
        <p:spPr>
          <a:xfrm>
            <a:off x="6339575" y="2849525"/>
            <a:ext cx="23589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Patient FHIR App: Patient auth and import personal health data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5" name="Google Shape;185;p29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1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30"/>
          <p:cNvSpPr txBox="1"/>
          <p:nvPr/>
        </p:nvSpPr>
        <p:spPr>
          <a:xfrm>
            <a:off x="548000" y="1759375"/>
            <a:ext cx="23589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Super Simple 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548000" y="2523374"/>
            <a:ext cx="23589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Read a single patient from Epic (backend system)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3618625" y="2523375"/>
            <a:ext cx="2358900" cy="1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Process ADT Feed message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6460650" y="2523375"/>
            <a:ext cx="1934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Patient auth and import personal health data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30"/>
          <p:cNvSpPr txBox="1"/>
          <p:nvPr/>
        </p:nvSpPr>
        <p:spPr>
          <a:xfrm>
            <a:off x="191150" y="180000"/>
            <a:ext cx="1463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Demos</a:t>
            </a:r>
            <a:endParaRPr sz="24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4" name="Google Shape;194;p30"/>
          <p:cNvSpPr txBox="1"/>
          <p:nvPr/>
        </p:nvSpPr>
        <p:spPr>
          <a:xfrm>
            <a:off x="3618625" y="1759375"/>
            <a:ext cx="23589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HL7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6460650" y="1759375"/>
            <a:ext cx="2406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Patient FHIR App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6" name="Google Shape;196;p30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0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 1">
  <p:cSld name="CUSTOM_1_1_1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/>
          <p:nvPr/>
        </p:nvSpPr>
        <p:spPr>
          <a:xfrm>
            <a:off x="3029725" y="-17250"/>
            <a:ext cx="61038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1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31"/>
          <p:cNvSpPr txBox="1"/>
          <p:nvPr/>
        </p:nvSpPr>
        <p:spPr>
          <a:xfrm>
            <a:off x="220350" y="180000"/>
            <a:ext cx="9813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31"/>
          <p:cNvSpPr txBox="1"/>
          <p:nvPr/>
        </p:nvSpPr>
        <p:spPr>
          <a:xfrm>
            <a:off x="3167325" y="180000"/>
            <a:ext cx="19443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3167325" y="159555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3477650" y="1595550"/>
            <a:ext cx="27423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Requirements Summary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Medplum Offering for Elekta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Hosting Options Matrix</a:t>
            </a:r>
            <a:endParaRPr sz="1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Per Customer Pricing</a:t>
            </a:r>
            <a:endParaRPr sz="1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Substitutes comparison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Other Items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3167325" y="205350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3167325" y="2876225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3167325" y="333645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08" name="Google Shape;208;p31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2">
  <p:cSld name="CUSTOM_2_1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614049" y="4830300"/>
            <a:ext cx="309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1pPr>
            <a:lvl2pPr lvl="1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2pPr>
            <a:lvl3pPr lvl="2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3pPr>
            <a:lvl4pPr lvl="3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4pPr>
            <a:lvl5pPr lvl="4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5pPr>
            <a:lvl6pPr lvl="5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6pPr>
            <a:lvl7pPr lvl="6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7pPr>
            <a:lvl8pPr lvl="7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8pPr>
            <a:lvl9pPr lvl="8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270000" y="270000"/>
            <a:ext cx="56604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Medium"/>
              <a:buNone/>
              <a:defRPr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1" type="subTitle"/>
          </p:nvPr>
        </p:nvSpPr>
        <p:spPr>
          <a:xfrm>
            <a:off x="3188350" y="4835700"/>
            <a:ext cx="4041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oppins"/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05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16" name="Google Shape;216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7" name="Google Shape;217;p33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159300" y="140225"/>
            <a:ext cx="886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159300" y="812625"/>
            <a:ext cx="8862000" cy="37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1" name="Google Shape;221;p34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 1">
  <p:cSld name="TITLE_AND_BODY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bg>
      <p:bgPr>
        <a:solidFill>
          <a:schemeClr val="accent6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idx="12" type="sldNum"/>
          </p:nvPr>
        </p:nvSpPr>
        <p:spPr>
          <a:xfrm>
            <a:off x="8540388" y="4652050"/>
            <a:ext cx="333600" cy="138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algn="r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algn="r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algn="r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algn="r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algn="r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algn="r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algn="r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algn="r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8"/>
          <p:cNvSpPr txBox="1"/>
          <p:nvPr/>
        </p:nvSpPr>
        <p:spPr>
          <a:xfrm>
            <a:off x="3167300" y="113675"/>
            <a:ext cx="42288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Build your own </a:t>
            </a:r>
            <a:b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EHR Integrating using Open Source</a:t>
            </a:r>
            <a:endParaRPr b="0" sz="3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31" name="Google Shape;231;p38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45975"/>
            <a:ext cx="1311652" cy="28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" name="Google Shape;232;p38"/>
          <p:cNvGrpSpPr/>
          <p:nvPr/>
        </p:nvGrpSpPr>
        <p:grpSpPr>
          <a:xfrm>
            <a:off x="7933350" y="4501425"/>
            <a:ext cx="990300" cy="325525"/>
            <a:chOff x="3188350" y="2350300"/>
            <a:chExt cx="990300" cy="325525"/>
          </a:xfrm>
        </p:grpSpPr>
        <p:sp>
          <p:nvSpPr>
            <p:cNvPr id="233" name="Google Shape;233;p38"/>
            <p:cNvSpPr/>
            <p:nvPr/>
          </p:nvSpPr>
          <p:spPr>
            <a:xfrm>
              <a:off x="3188350" y="2392325"/>
              <a:ext cx="990300" cy="28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8"/>
            <p:cNvSpPr txBox="1"/>
            <p:nvPr/>
          </p:nvSpPr>
          <p:spPr>
            <a:xfrm>
              <a:off x="3188350" y="2350300"/>
              <a:ext cx="9903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Webinar</a:t>
              </a:r>
              <a:endPara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35" name="Google Shape;235;p38"/>
          <p:cNvSpPr txBox="1"/>
          <p:nvPr/>
        </p:nvSpPr>
        <p:spPr>
          <a:xfrm>
            <a:off x="3073400" y="4597650"/>
            <a:ext cx="2426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Sep 21, 2023–1pm PT, 4pm ET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 type="tx">
  <p:cSld name="TITLE_AND_BODY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39"/>
          <p:cNvGrpSpPr/>
          <p:nvPr/>
        </p:nvGrpSpPr>
        <p:grpSpPr>
          <a:xfrm>
            <a:off x="4792950" y="4395575"/>
            <a:ext cx="990300" cy="325525"/>
            <a:chOff x="4792950" y="4547975"/>
            <a:chExt cx="990300" cy="325525"/>
          </a:xfrm>
        </p:grpSpPr>
        <p:sp>
          <p:nvSpPr>
            <p:cNvPr id="238" name="Google Shape;238;p39"/>
            <p:cNvSpPr/>
            <p:nvPr/>
          </p:nvSpPr>
          <p:spPr>
            <a:xfrm>
              <a:off x="4792950" y="4590000"/>
              <a:ext cx="990300" cy="2835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9"/>
            <p:cNvSpPr txBox="1"/>
            <p:nvPr/>
          </p:nvSpPr>
          <p:spPr>
            <a:xfrm>
              <a:off x="4792950" y="4547975"/>
              <a:ext cx="9903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Webinar</a:t>
              </a:r>
              <a:endPara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40" name="Google Shape;240;p39"/>
          <p:cNvSpPr/>
          <p:nvPr/>
        </p:nvSpPr>
        <p:spPr>
          <a:xfrm>
            <a:off x="0" y="0"/>
            <a:ext cx="4568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9"/>
          <p:cNvSpPr txBox="1"/>
          <p:nvPr/>
        </p:nvSpPr>
        <p:spPr>
          <a:xfrm>
            <a:off x="220350" y="180000"/>
            <a:ext cx="3570300" cy="9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Build your own </a:t>
            </a:r>
            <a:b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EHR Integrating using Open Source</a:t>
            </a:r>
            <a:endParaRPr b="0" sz="2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42" name="Google Shape;242;p39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22455" y="4451315"/>
            <a:ext cx="990301" cy="214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9" title="img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96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9" title="img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24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9" title="img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52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9"/>
          <p:cNvSpPr txBox="1"/>
          <p:nvPr/>
        </p:nvSpPr>
        <p:spPr>
          <a:xfrm>
            <a:off x="46317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Alex Goel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CEO Technology Health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p39"/>
          <p:cNvSpPr txBox="1"/>
          <p:nvPr/>
        </p:nvSpPr>
        <p:spPr>
          <a:xfrm>
            <a:off x="61045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Reshma Khilnani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CEO Medplum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39"/>
          <p:cNvSpPr txBox="1"/>
          <p:nvPr/>
        </p:nvSpPr>
        <p:spPr>
          <a:xfrm>
            <a:off x="75598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Johs Leben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CTO Topology Health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9" name="Google Shape;249;p39" title="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6668" y="4123525"/>
            <a:ext cx="594075" cy="59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chemeClr val="accent5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40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0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40"/>
          <p:cNvSpPr txBox="1"/>
          <p:nvPr/>
        </p:nvSpPr>
        <p:spPr>
          <a:xfrm>
            <a:off x="3167325" y="1920150"/>
            <a:ext cx="36924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source/demos of these today!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4" name="Google Shape;254;p40"/>
          <p:cNvSpPr txBox="1"/>
          <p:nvPr/>
        </p:nvSpPr>
        <p:spPr>
          <a:xfrm>
            <a:off x="157025" y="1954275"/>
            <a:ext cx="858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bg>
      <p:bgPr>
        <a:solidFill>
          <a:schemeClr val="accent3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1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1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p41"/>
          <p:cNvSpPr txBox="1"/>
          <p:nvPr/>
        </p:nvSpPr>
        <p:spPr>
          <a:xfrm>
            <a:off x="3167325" y="1920150"/>
            <a:ext cx="36924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9" name="Google Shape;259;p41"/>
          <p:cNvSpPr txBox="1"/>
          <p:nvPr/>
        </p:nvSpPr>
        <p:spPr>
          <a:xfrm>
            <a:off x="157025" y="1954275"/>
            <a:ext cx="1446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_2_1">
    <p:bg>
      <p:bgPr>
        <a:solidFill>
          <a:schemeClr val="lt2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42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2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p42"/>
          <p:cNvSpPr txBox="1"/>
          <p:nvPr/>
        </p:nvSpPr>
        <p:spPr>
          <a:xfrm>
            <a:off x="3167325" y="2066775"/>
            <a:ext cx="3692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4" name="Google Shape;264;p42"/>
          <p:cNvSpPr txBox="1"/>
          <p:nvPr/>
        </p:nvSpPr>
        <p:spPr>
          <a:xfrm>
            <a:off x="157025" y="1954275"/>
            <a:ext cx="15369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">
  <p:cSld name="Blank_1_1_1"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source/demos of these today!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7" name="Google Shape;267;p43"/>
          <p:cNvSpPr txBox="1"/>
          <p:nvPr/>
        </p:nvSpPr>
        <p:spPr>
          <a:xfrm>
            <a:off x="8163125" y="180000"/>
            <a:ext cx="8190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68" name="Google Shape;268;p43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3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">
  <p:cSld name="Blank_1_1_1_1">
    <p:bg>
      <p:bgPr>
        <a:solidFill>
          <a:schemeClr val="accent4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4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4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3" name="Google Shape;273;p44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4" name="Google Shape;274;p44"/>
          <p:cNvSpPr txBox="1"/>
          <p:nvPr/>
        </p:nvSpPr>
        <p:spPr>
          <a:xfrm>
            <a:off x="7917450" y="180000"/>
            <a:ext cx="10062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">
  <p:cSld name="Blank_1_1_1_1_1">
    <p:bg>
      <p:bgPr>
        <a:solidFill>
          <a:schemeClr val="accent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5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5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p45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9" name="Google Shape;279;p45"/>
          <p:cNvSpPr txBox="1"/>
          <p:nvPr/>
        </p:nvSpPr>
        <p:spPr>
          <a:xfrm>
            <a:off x="7975975" y="180000"/>
            <a:ext cx="10062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">
  <p:cSld name="Blank_1_1_1_1_1_1">
    <p:bg>
      <p:bgPr>
        <a:solidFill>
          <a:schemeClr val="lt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/>
          <p:nvPr/>
        </p:nvSpPr>
        <p:spPr>
          <a:xfrm>
            <a:off x="177275" y="1799150"/>
            <a:ext cx="72729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 demos of these today!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82" name="Google Shape;282;p46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83" name="Google Shape;283;p46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6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">
  <p:cSld name="Blank_1_1_1_1_1_1_1">
    <p:bg>
      <p:bgPr>
        <a:solidFill>
          <a:schemeClr val="accent4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/>
          <p:nvPr/>
        </p:nvSpPr>
        <p:spPr>
          <a:xfrm>
            <a:off x="177275" y="1799150"/>
            <a:ext cx="64596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87" name="Google Shape;287;p47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88" name="Google Shape;288;p47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7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">
  <p:cSld name="Blank_1_1_1_1_1_1_1_1">
    <p:bg>
      <p:bgPr>
        <a:solidFill>
          <a:schemeClr val="accent6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8"/>
          <p:cNvSpPr txBox="1"/>
          <p:nvPr/>
        </p:nvSpPr>
        <p:spPr>
          <a:xfrm>
            <a:off x="177275" y="1799150"/>
            <a:ext cx="645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92" name="Google Shape;292;p48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93" name="Google Shape;293;p48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8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 1">
  <p:cSld name="Blank_1_1_1_1_1_1_1_1_1">
    <p:bg>
      <p:bgPr>
        <a:solidFill>
          <a:schemeClr val="accent2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9"/>
          <p:cNvSpPr txBox="1"/>
          <p:nvPr/>
        </p:nvSpPr>
        <p:spPr>
          <a:xfrm>
            <a:off x="3188350" y="1714505"/>
            <a:ext cx="4230600" cy="17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Medplum offers FHIR infrastructure with integrated IDP, integration tools and flexible deployment options</a:t>
            </a: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7" name="Google Shape;297;p49" title="medplum logo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0000" y="1714509"/>
            <a:ext cx="818899" cy="17699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9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 1 1">
  <p:cSld name="Blank_1_1_1_1_1_1_1_1_1_1">
    <p:bg>
      <p:bgPr>
        <a:solidFill>
          <a:schemeClr val="dk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50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50"/>
          <p:cNvSpPr txBox="1"/>
          <p:nvPr/>
        </p:nvSpPr>
        <p:spPr>
          <a:xfrm>
            <a:off x="3167325" y="220975"/>
            <a:ext cx="4282800" cy="17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Medplum offers FHIR infrastructure with integrated IDP, integration tools and flexible deployment options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2" name="Google Shape;302;p50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1"/>
          <p:cNvSpPr/>
          <p:nvPr/>
        </p:nvSpPr>
        <p:spPr>
          <a:xfrm>
            <a:off x="2332325" y="179788"/>
            <a:ext cx="6591300" cy="138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1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51"/>
          <p:cNvSpPr txBox="1"/>
          <p:nvPr/>
        </p:nvSpPr>
        <p:spPr>
          <a:xfrm>
            <a:off x="220350" y="180000"/>
            <a:ext cx="1463100" cy="1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Scaling Tiers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51"/>
          <p:cNvSpPr/>
          <p:nvPr/>
        </p:nvSpPr>
        <p:spPr>
          <a:xfrm>
            <a:off x="2332325" y="3114150"/>
            <a:ext cx="6591300" cy="138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8" name="Google Shape;308;p51"/>
          <p:cNvCxnSpPr/>
          <p:nvPr/>
        </p:nvCxnSpPr>
        <p:spPr>
          <a:xfrm>
            <a:off x="4187750" y="439438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51"/>
          <p:cNvCxnSpPr/>
          <p:nvPr/>
        </p:nvCxnSpPr>
        <p:spPr>
          <a:xfrm>
            <a:off x="6114275" y="439438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51"/>
          <p:cNvSpPr txBox="1"/>
          <p:nvPr/>
        </p:nvSpPr>
        <p:spPr>
          <a:xfrm>
            <a:off x="6368375" y="508075"/>
            <a:ext cx="15666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+$4K</a:t>
            </a:r>
            <a:endParaRPr sz="4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" name="Google Shape;311;p51"/>
          <p:cNvSpPr txBox="1"/>
          <p:nvPr/>
        </p:nvSpPr>
        <p:spPr>
          <a:xfrm>
            <a:off x="7884850" y="839375"/>
            <a:ext cx="8190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/ month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2" name="Google Shape;312;p51"/>
          <p:cNvSpPr txBox="1"/>
          <p:nvPr/>
        </p:nvSpPr>
        <p:spPr>
          <a:xfrm>
            <a:off x="4503188" y="702175"/>
            <a:ext cx="1425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2M-3M Patients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3" name="Google Shape;313;p51"/>
          <p:cNvSpPr txBox="1"/>
          <p:nvPr/>
        </p:nvSpPr>
        <p:spPr>
          <a:xfrm>
            <a:off x="2938550" y="709825"/>
            <a:ext cx="583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Tier 1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14" name="Google Shape;314;p51"/>
          <p:cNvGrpSpPr/>
          <p:nvPr/>
        </p:nvGrpSpPr>
        <p:grpSpPr>
          <a:xfrm>
            <a:off x="2332325" y="1646975"/>
            <a:ext cx="6591300" cy="1385100"/>
            <a:chOff x="2332325" y="1613813"/>
            <a:chExt cx="6591300" cy="1385100"/>
          </a:xfrm>
        </p:grpSpPr>
        <p:sp>
          <p:nvSpPr>
            <p:cNvPr id="315" name="Google Shape;315;p51"/>
            <p:cNvSpPr/>
            <p:nvPr/>
          </p:nvSpPr>
          <p:spPr>
            <a:xfrm>
              <a:off x="2332325" y="1613813"/>
              <a:ext cx="6591300" cy="13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6" name="Google Shape;316;p51"/>
            <p:cNvCxnSpPr/>
            <p:nvPr/>
          </p:nvCxnSpPr>
          <p:spPr>
            <a:xfrm>
              <a:off x="4187750" y="1873463"/>
              <a:ext cx="0" cy="86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51"/>
            <p:cNvCxnSpPr/>
            <p:nvPr/>
          </p:nvCxnSpPr>
          <p:spPr>
            <a:xfrm>
              <a:off x="6114275" y="1873463"/>
              <a:ext cx="0" cy="86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8" name="Google Shape;318;p51"/>
            <p:cNvSpPr txBox="1"/>
            <p:nvPr/>
          </p:nvSpPr>
          <p:spPr>
            <a:xfrm>
              <a:off x="6386375" y="2037513"/>
              <a:ext cx="1530600" cy="5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4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+$8K</a:t>
              </a:r>
              <a:endParaRPr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9" name="Google Shape;319;p51"/>
            <p:cNvSpPr txBox="1"/>
            <p:nvPr/>
          </p:nvSpPr>
          <p:spPr>
            <a:xfrm>
              <a:off x="7884850" y="2347300"/>
              <a:ext cx="8190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/ month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0" name="Google Shape;320;p51"/>
            <p:cNvSpPr txBox="1"/>
            <p:nvPr/>
          </p:nvSpPr>
          <p:spPr>
            <a:xfrm>
              <a:off x="4503188" y="2231600"/>
              <a:ext cx="1425600" cy="19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3M-4M Patients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1" name="Google Shape;321;p51"/>
            <p:cNvSpPr txBox="1"/>
            <p:nvPr/>
          </p:nvSpPr>
          <p:spPr>
            <a:xfrm>
              <a:off x="2938550" y="2239250"/>
              <a:ext cx="5835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Tier 2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cxnSp>
        <p:nvCxnSpPr>
          <p:cNvPr id="322" name="Google Shape;322;p51"/>
          <p:cNvCxnSpPr/>
          <p:nvPr/>
        </p:nvCxnSpPr>
        <p:spPr>
          <a:xfrm>
            <a:off x="4187744" y="3373800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51"/>
          <p:cNvCxnSpPr/>
          <p:nvPr/>
        </p:nvCxnSpPr>
        <p:spPr>
          <a:xfrm>
            <a:off x="6114269" y="3373800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51"/>
          <p:cNvSpPr txBox="1"/>
          <p:nvPr/>
        </p:nvSpPr>
        <p:spPr>
          <a:xfrm>
            <a:off x="6368375" y="3524150"/>
            <a:ext cx="16242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+$12K</a:t>
            </a:r>
            <a:endParaRPr sz="4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5" name="Google Shape;325;p51"/>
          <p:cNvSpPr txBox="1"/>
          <p:nvPr/>
        </p:nvSpPr>
        <p:spPr>
          <a:xfrm>
            <a:off x="7958251" y="3851600"/>
            <a:ext cx="965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/ month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6" name="Google Shape;326;p51"/>
          <p:cNvSpPr txBox="1"/>
          <p:nvPr/>
        </p:nvSpPr>
        <p:spPr>
          <a:xfrm>
            <a:off x="4503207" y="3682700"/>
            <a:ext cx="1425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4M-5M Patients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51"/>
          <p:cNvSpPr txBox="1"/>
          <p:nvPr/>
        </p:nvSpPr>
        <p:spPr>
          <a:xfrm>
            <a:off x="2938550" y="3706100"/>
            <a:ext cx="5835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Tier 3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8" name="Google Shape;328;p51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51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2"/>
          <p:cNvSpPr/>
          <p:nvPr/>
        </p:nvSpPr>
        <p:spPr>
          <a:xfrm>
            <a:off x="3167325" y="1985375"/>
            <a:ext cx="5756400" cy="100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52"/>
          <p:cNvSpPr/>
          <p:nvPr/>
        </p:nvSpPr>
        <p:spPr>
          <a:xfrm>
            <a:off x="3167325" y="823338"/>
            <a:ext cx="5756400" cy="100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2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52"/>
          <p:cNvSpPr txBox="1"/>
          <p:nvPr/>
        </p:nvSpPr>
        <p:spPr>
          <a:xfrm>
            <a:off x="220350" y="180000"/>
            <a:ext cx="1463100" cy="1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 Notable Things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5" name="Google Shape;335;p52"/>
          <p:cNvSpPr/>
          <p:nvPr/>
        </p:nvSpPr>
        <p:spPr>
          <a:xfrm>
            <a:off x="3167325" y="3147425"/>
            <a:ext cx="5756400" cy="1002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52"/>
          <p:cNvSpPr txBox="1"/>
          <p:nvPr/>
        </p:nvSpPr>
        <p:spPr>
          <a:xfrm>
            <a:off x="3167325" y="180000"/>
            <a:ext cx="3515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 Notable Things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37" name="Google Shape;337;p52"/>
          <p:cNvSpPr txBox="1"/>
          <p:nvPr/>
        </p:nvSpPr>
        <p:spPr>
          <a:xfrm>
            <a:off x="3487175" y="1066250"/>
            <a:ext cx="517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38" name="Google Shape;338;p52"/>
          <p:cNvSpPr txBox="1"/>
          <p:nvPr/>
        </p:nvSpPr>
        <p:spPr>
          <a:xfrm>
            <a:off x="3417300" y="2196000"/>
            <a:ext cx="733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39" name="Google Shape;339;p52"/>
          <p:cNvSpPr txBox="1"/>
          <p:nvPr/>
        </p:nvSpPr>
        <p:spPr>
          <a:xfrm>
            <a:off x="3417300" y="3369425"/>
            <a:ext cx="733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40" name="Google Shape;340;p52"/>
          <p:cNvSpPr txBox="1"/>
          <p:nvPr/>
        </p:nvSpPr>
        <p:spPr>
          <a:xfrm>
            <a:off x="6114275" y="1249250"/>
            <a:ext cx="2767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Server-to-server connections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1" name="Google Shape;341;p52"/>
          <p:cNvSpPr txBox="1"/>
          <p:nvPr/>
        </p:nvSpPr>
        <p:spPr>
          <a:xfrm>
            <a:off x="6114275" y="2308050"/>
            <a:ext cx="2767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Medplum Bot - authenticate via JWT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2" name="Google Shape;342;p52"/>
          <p:cNvSpPr txBox="1"/>
          <p:nvPr/>
        </p:nvSpPr>
        <p:spPr>
          <a:xfrm>
            <a:off x="6114275" y="3481475"/>
            <a:ext cx="2767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Standard-ish FHIR API, similar to Medplum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3" name="Google Shape;343;p52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2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3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7" name="Google Shape;347;p53"/>
          <p:cNvSpPr txBox="1"/>
          <p:nvPr/>
        </p:nvSpPr>
        <p:spPr>
          <a:xfrm>
            <a:off x="3134475" y="180000"/>
            <a:ext cx="1561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Demos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48" name="Google Shape;348;p53"/>
          <p:cNvSpPr txBox="1"/>
          <p:nvPr/>
        </p:nvSpPr>
        <p:spPr>
          <a:xfrm>
            <a:off x="220350" y="180000"/>
            <a:ext cx="14631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9" name="Google Shape;349;p53"/>
          <p:cNvSpPr/>
          <p:nvPr/>
        </p:nvSpPr>
        <p:spPr>
          <a:xfrm>
            <a:off x="220350" y="1435200"/>
            <a:ext cx="2809500" cy="2279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3"/>
          <p:cNvSpPr/>
          <p:nvPr/>
        </p:nvSpPr>
        <p:spPr>
          <a:xfrm>
            <a:off x="3160200" y="1435200"/>
            <a:ext cx="2809500" cy="227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53"/>
          <p:cNvSpPr/>
          <p:nvPr/>
        </p:nvSpPr>
        <p:spPr>
          <a:xfrm>
            <a:off x="6114275" y="1435200"/>
            <a:ext cx="2809500" cy="2279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3"/>
          <p:cNvSpPr txBox="1"/>
          <p:nvPr/>
        </p:nvSpPr>
        <p:spPr>
          <a:xfrm>
            <a:off x="445650" y="1637400"/>
            <a:ext cx="5175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53"/>
          <p:cNvSpPr txBox="1"/>
          <p:nvPr/>
        </p:nvSpPr>
        <p:spPr>
          <a:xfrm>
            <a:off x="3385500" y="1637400"/>
            <a:ext cx="7335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4" name="Google Shape;354;p53"/>
          <p:cNvSpPr txBox="1"/>
          <p:nvPr/>
        </p:nvSpPr>
        <p:spPr>
          <a:xfrm>
            <a:off x="6339575" y="1637400"/>
            <a:ext cx="5988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5" name="Google Shape;355;p53"/>
          <p:cNvSpPr txBox="1"/>
          <p:nvPr/>
        </p:nvSpPr>
        <p:spPr>
          <a:xfrm>
            <a:off x="445650" y="2849525"/>
            <a:ext cx="23589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Super simple: read a single patient from Epic (backend system)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56" name="Google Shape;356;p53"/>
          <p:cNvCxnSpPr/>
          <p:nvPr/>
        </p:nvCxnSpPr>
        <p:spPr>
          <a:xfrm>
            <a:off x="445650" y="2695275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53"/>
          <p:cNvCxnSpPr/>
          <p:nvPr/>
        </p:nvCxnSpPr>
        <p:spPr>
          <a:xfrm>
            <a:off x="3385500" y="2695275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53"/>
          <p:cNvCxnSpPr/>
          <p:nvPr/>
        </p:nvCxnSpPr>
        <p:spPr>
          <a:xfrm>
            <a:off x="6339575" y="2695850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53"/>
          <p:cNvSpPr txBox="1"/>
          <p:nvPr/>
        </p:nvSpPr>
        <p:spPr>
          <a:xfrm>
            <a:off x="3385500" y="2849525"/>
            <a:ext cx="23589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HL7: Process ADT Feed message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0" name="Google Shape;360;p53"/>
          <p:cNvSpPr txBox="1"/>
          <p:nvPr/>
        </p:nvSpPr>
        <p:spPr>
          <a:xfrm>
            <a:off x="6339575" y="2849525"/>
            <a:ext cx="23589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Patient FHIR App: Patient auth and import personal health data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1" name="Google Shape;361;p53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3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1_1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4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54"/>
          <p:cNvSpPr txBox="1"/>
          <p:nvPr/>
        </p:nvSpPr>
        <p:spPr>
          <a:xfrm>
            <a:off x="548000" y="1759375"/>
            <a:ext cx="23589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Super Simple 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" name="Google Shape;366;p54"/>
          <p:cNvSpPr txBox="1"/>
          <p:nvPr/>
        </p:nvSpPr>
        <p:spPr>
          <a:xfrm>
            <a:off x="548000" y="2523374"/>
            <a:ext cx="23589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Read a single patient from Epic (backend system)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7" name="Google Shape;367;p54"/>
          <p:cNvSpPr txBox="1"/>
          <p:nvPr/>
        </p:nvSpPr>
        <p:spPr>
          <a:xfrm>
            <a:off x="3618625" y="2523375"/>
            <a:ext cx="2358900" cy="1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Process ADT Feed message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8" name="Google Shape;368;p54"/>
          <p:cNvSpPr txBox="1"/>
          <p:nvPr/>
        </p:nvSpPr>
        <p:spPr>
          <a:xfrm>
            <a:off x="6460650" y="2523375"/>
            <a:ext cx="1934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Patient auth and import personal health data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" name="Google Shape;369;p54"/>
          <p:cNvSpPr txBox="1"/>
          <p:nvPr/>
        </p:nvSpPr>
        <p:spPr>
          <a:xfrm>
            <a:off x="191150" y="180000"/>
            <a:ext cx="1463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Demos</a:t>
            </a:r>
            <a:endParaRPr sz="24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70" name="Google Shape;370;p54"/>
          <p:cNvSpPr txBox="1"/>
          <p:nvPr/>
        </p:nvSpPr>
        <p:spPr>
          <a:xfrm>
            <a:off x="3618625" y="1759375"/>
            <a:ext cx="23589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HL7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1" name="Google Shape;371;p54"/>
          <p:cNvSpPr txBox="1"/>
          <p:nvPr/>
        </p:nvSpPr>
        <p:spPr>
          <a:xfrm>
            <a:off x="6460650" y="1759375"/>
            <a:ext cx="2406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Patient FHIR App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2" name="Google Shape;372;p54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54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 1">
  <p:cSld name="CUSTOM_1_1_1_1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5"/>
          <p:cNvSpPr/>
          <p:nvPr/>
        </p:nvSpPr>
        <p:spPr>
          <a:xfrm>
            <a:off x="3029725" y="-17250"/>
            <a:ext cx="61038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5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55"/>
          <p:cNvSpPr txBox="1"/>
          <p:nvPr/>
        </p:nvSpPr>
        <p:spPr>
          <a:xfrm>
            <a:off x="220350" y="180000"/>
            <a:ext cx="9813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8" name="Google Shape;378;p55"/>
          <p:cNvSpPr txBox="1"/>
          <p:nvPr/>
        </p:nvSpPr>
        <p:spPr>
          <a:xfrm>
            <a:off x="3167325" y="180000"/>
            <a:ext cx="19443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79" name="Google Shape;379;p55"/>
          <p:cNvSpPr txBox="1"/>
          <p:nvPr/>
        </p:nvSpPr>
        <p:spPr>
          <a:xfrm>
            <a:off x="3167325" y="159555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80" name="Google Shape;380;p55"/>
          <p:cNvSpPr txBox="1"/>
          <p:nvPr/>
        </p:nvSpPr>
        <p:spPr>
          <a:xfrm>
            <a:off x="3477650" y="1595550"/>
            <a:ext cx="27423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Requirements Summary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Medplum Offering for Elekta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Hosting Options Matrix</a:t>
            </a:r>
            <a:endParaRPr sz="1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Per Customer Pricing</a:t>
            </a:r>
            <a:endParaRPr sz="1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Substitutes comparison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Other Items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81" name="Google Shape;381;p55"/>
          <p:cNvSpPr txBox="1"/>
          <p:nvPr/>
        </p:nvSpPr>
        <p:spPr>
          <a:xfrm>
            <a:off x="3167325" y="205350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82" name="Google Shape;382;p55"/>
          <p:cNvSpPr txBox="1"/>
          <p:nvPr/>
        </p:nvSpPr>
        <p:spPr>
          <a:xfrm>
            <a:off x="3167325" y="2876225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83" name="Google Shape;383;p55"/>
          <p:cNvSpPr txBox="1"/>
          <p:nvPr/>
        </p:nvSpPr>
        <p:spPr>
          <a:xfrm>
            <a:off x="3167325" y="333645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84" name="Google Shape;384;p55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55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2">
  <p:cSld name="CUSTOM_2_1_1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/>
          <p:nvPr>
            <p:ph idx="12" type="sldNum"/>
          </p:nvPr>
        </p:nvSpPr>
        <p:spPr>
          <a:xfrm>
            <a:off x="8614049" y="4830300"/>
            <a:ext cx="309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1pPr>
            <a:lvl2pPr lvl="1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2pPr>
            <a:lvl3pPr lvl="2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3pPr>
            <a:lvl4pPr lvl="3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4pPr>
            <a:lvl5pPr lvl="4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5pPr>
            <a:lvl6pPr lvl="5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6pPr>
            <a:lvl7pPr lvl="6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7pPr>
            <a:lvl8pPr lvl="7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8pPr>
            <a:lvl9pPr lvl="8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8" name="Google Shape;388;p56"/>
          <p:cNvSpPr txBox="1"/>
          <p:nvPr>
            <p:ph type="title"/>
          </p:nvPr>
        </p:nvSpPr>
        <p:spPr>
          <a:xfrm>
            <a:off x="270000" y="270000"/>
            <a:ext cx="56604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Medium"/>
              <a:buNone/>
              <a:defRPr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9" name="Google Shape;389;p56"/>
          <p:cNvSpPr txBox="1"/>
          <p:nvPr>
            <p:ph idx="1" type="subTitle"/>
          </p:nvPr>
        </p:nvSpPr>
        <p:spPr>
          <a:xfrm>
            <a:off x="3188350" y="4835700"/>
            <a:ext cx="4041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oppins"/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05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92" name="Google Shape;392;p5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3" name="Google Shape;393;p57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8"/>
          <p:cNvSpPr txBox="1"/>
          <p:nvPr>
            <p:ph type="title"/>
          </p:nvPr>
        </p:nvSpPr>
        <p:spPr>
          <a:xfrm>
            <a:off x="159300" y="140225"/>
            <a:ext cx="886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58"/>
          <p:cNvSpPr txBox="1"/>
          <p:nvPr>
            <p:ph idx="1" type="body"/>
          </p:nvPr>
        </p:nvSpPr>
        <p:spPr>
          <a:xfrm>
            <a:off x="159300" y="812625"/>
            <a:ext cx="8862000" cy="37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7" name="Google Shape;397;p58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 1">
  <p:cSld name="TITLE_AND_BODY_1_1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9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0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3" name="Google Shape;403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6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4900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5" name="Google Shape;405;p6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bg>
      <p:bgPr>
        <a:solidFill>
          <a:schemeClr val="accent6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3"/>
          <p:cNvSpPr txBox="1"/>
          <p:nvPr>
            <p:ph idx="12" type="sldNum"/>
          </p:nvPr>
        </p:nvSpPr>
        <p:spPr>
          <a:xfrm>
            <a:off x="8540388" y="4652050"/>
            <a:ext cx="333600" cy="138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algn="r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algn="r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algn="r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algn="r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algn="r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algn="r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algn="r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algn="r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63"/>
          <p:cNvSpPr txBox="1"/>
          <p:nvPr/>
        </p:nvSpPr>
        <p:spPr>
          <a:xfrm>
            <a:off x="3167300" y="113675"/>
            <a:ext cx="42288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Build your own </a:t>
            </a:r>
            <a:b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EHR Integrating using Open Source</a:t>
            </a:r>
            <a:endParaRPr b="0" sz="3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11" name="Google Shape;411;p63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45975"/>
            <a:ext cx="1311652" cy="28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2" name="Google Shape;412;p63"/>
          <p:cNvGrpSpPr/>
          <p:nvPr/>
        </p:nvGrpSpPr>
        <p:grpSpPr>
          <a:xfrm>
            <a:off x="7933350" y="4501425"/>
            <a:ext cx="990300" cy="325525"/>
            <a:chOff x="3188350" y="2350300"/>
            <a:chExt cx="990300" cy="325525"/>
          </a:xfrm>
        </p:grpSpPr>
        <p:sp>
          <p:nvSpPr>
            <p:cNvPr id="413" name="Google Shape;413;p63"/>
            <p:cNvSpPr/>
            <p:nvPr/>
          </p:nvSpPr>
          <p:spPr>
            <a:xfrm>
              <a:off x="3188350" y="2392325"/>
              <a:ext cx="990300" cy="28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63"/>
            <p:cNvSpPr txBox="1"/>
            <p:nvPr/>
          </p:nvSpPr>
          <p:spPr>
            <a:xfrm>
              <a:off x="3188350" y="2350300"/>
              <a:ext cx="9903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Webinar</a:t>
              </a:r>
              <a:endPara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15" name="Google Shape;415;p63"/>
          <p:cNvSpPr txBox="1"/>
          <p:nvPr/>
        </p:nvSpPr>
        <p:spPr>
          <a:xfrm>
            <a:off x="3073400" y="4597650"/>
            <a:ext cx="2426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Sep 21, 2023–1pm PT, 4pm ET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 type="tx">
  <p:cSld name="TITLE_AND_BODY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64"/>
          <p:cNvGrpSpPr/>
          <p:nvPr/>
        </p:nvGrpSpPr>
        <p:grpSpPr>
          <a:xfrm>
            <a:off x="4792950" y="4395575"/>
            <a:ext cx="990300" cy="325525"/>
            <a:chOff x="4792950" y="4547975"/>
            <a:chExt cx="990300" cy="325525"/>
          </a:xfrm>
        </p:grpSpPr>
        <p:sp>
          <p:nvSpPr>
            <p:cNvPr id="418" name="Google Shape;418;p64"/>
            <p:cNvSpPr/>
            <p:nvPr/>
          </p:nvSpPr>
          <p:spPr>
            <a:xfrm>
              <a:off x="4792950" y="4590000"/>
              <a:ext cx="990300" cy="2835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64"/>
            <p:cNvSpPr txBox="1"/>
            <p:nvPr/>
          </p:nvSpPr>
          <p:spPr>
            <a:xfrm>
              <a:off x="4792950" y="4547975"/>
              <a:ext cx="9903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Webinar</a:t>
              </a:r>
              <a:endPara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20" name="Google Shape;420;p64"/>
          <p:cNvSpPr/>
          <p:nvPr/>
        </p:nvSpPr>
        <p:spPr>
          <a:xfrm>
            <a:off x="0" y="0"/>
            <a:ext cx="4568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64"/>
          <p:cNvSpPr txBox="1"/>
          <p:nvPr/>
        </p:nvSpPr>
        <p:spPr>
          <a:xfrm>
            <a:off x="220350" y="180000"/>
            <a:ext cx="3570300" cy="9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Build your own </a:t>
            </a:r>
            <a:b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EHR Integrating using Open Source</a:t>
            </a:r>
            <a:endParaRPr b="0" sz="2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22" name="Google Shape;422;p64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22455" y="4451315"/>
            <a:ext cx="990301" cy="214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64" title="img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96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64" title="img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24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64" title="img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52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64"/>
          <p:cNvSpPr txBox="1"/>
          <p:nvPr/>
        </p:nvSpPr>
        <p:spPr>
          <a:xfrm>
            <a:off x="46317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Alex Goel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CEO Technology Health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7" name="Google Shape;427;p64"/>
          <p:cNvSpPr txBox="1"/>
          <p:nvPr/>
        </p:nvSpPr>
        <p:spPr>
          <a:xfrm>
            <a:off x="61045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Reshma Khilnani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CEO Medplum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8" name="Google Shape;428;p64"/>
          <p:cNvSpPr txBox="1"/>
          <p:nvPr/>
        </p:nvSpPr>
        <p:spPr>
          <a:xfrm>
            <a:off x="75598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Johs Leben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CTO Topology Health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9" name="Google Shape;429;p64" title="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6668" y="4123525"/>
            <a:ext cx="594075" cy="59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chemeClr val="accent5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65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65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3" name="Google Shape;433;p65"/>
          <p:cNvSpPr txBox="1"/>
          <p:nvPr/>
        </p:nvSpPr>
        <p:spPr>
          <a:xfrm>
            <a:off x="3167325" y="1920150"/>
            <a:ext cx="36924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source/demos of these today!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34" name="Google Shape;434;p65"/>
          <p:cNvSpPr txBox="1"/>
          <p:nvPr/>
        </p:nvSpPr>
        <p:spPr>
          <a:xfrm>
            <a:off x="157025" y="1954275"/>
            <a:ext cx="858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bg>
      <p:bgPr>
        <a:solidFill>
          <a:schemeClr val="accent3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66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66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8" name="Google Shape;438;p66"/>
          <p:cNvSpPr txBox="1"/>
          <p:nvPr/>
        </p:nvSpPr>
        <p:spPr>
          <a:xfrm>
            <a:off x="3167325" y="1920150"/>
            <a:ext cx="36924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39" name="Google Shape;439;p66"/>
          <p:cNvSpPr txBox="1"/>
          <p:nvPr/>
        </p:nvSpPr>
        <p:spPr>
          <a:xfrm>
            <a:off x="157025" y="1954275"/>
            <a:ext cx="1446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_2_1">
    <p:bg>
      <p:bgPr>
        <a:solidFill>
          <a:schemeClr val="lt2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67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67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3" name="Google Shape;443;p67"/>
          <p:cNvSpPr txBox="1"/>
          <p:nvPr/>
        </p:nvSpPr>
        <p:spPr>
          <a:xfrm>
            <a:off x="3167325" y="2066775"/>
            <a:ext cx="3692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44" name="Google Shape;444;p67"/>
          <p:cNvSpPr txBox="1"/>
          <p:nvPr/>
        </p:nvSpPr>
        <p:spPr>
          <a:xfrm>
            <a:off x="157025" y="1954275"/>
            <a:ext cx="15369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">
  <p:cSld name="Blank_1_1_1">
    <p:bg>
      <p:bgPr>
        <a:solidFill>
          <a:schemeClr val="lt1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8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source/demos of these today!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47" name="Google Shape;447;p68"/>
          <p:cNvSpPr txBox="1"/>
          <p:nvPr/>
        </p:nvSpPr>
        <p:spPr>
          <a:xfrm>
            <a:off x="8163125" y="180000"/>
            <a:ext cx="8190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48" name="Google Shape;448;p68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68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">
  <p:cSld name="Blank_1_1_1_1">
    <p:bg>
      <p:bgPr>
        <a:solidFill>
          <a:schemeClr val="accent4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69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69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" name="Google Shape;453;p69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54" name="Google Shape;454;p69"/>
          <p:cNvSpPr txBox="1"/>
          <p:nvPr/>
        </p:nvSpPr>
        <p:spPr>
          <a:xfrm>
            <a:off x="7917450" y="180000"/>
            <a:ext cx="10062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">
  <p:cSld name="Blank_1_1_1_1_1">
    <p:bg>
      <p:bgPr>
        <a:solidFill>
          <a:schemeClr val="accent6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70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70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" name="Google Shape;458;p70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59" name="Google Shape;459;p70"/>
          <p:cNvSpPr txBox="1"/>
          <p:nvPr/>
        </p:nvSpPr>
        <p:spPr>
          <a:xfrm>
            <a:off x="7975975" y="180000"/>
            <a:ext cx="10062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">
  <p:cSld name="Blank_1_1_1_1_1_1">
    <p:bg>
      <p:bgPr>
        <a:solidFill>
          <a:schemeClr val="lt1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1"/>
          <p:cNvSpPr txBox="1"/>
          <p:nvPr/>
        </p:nvSpPr>
        <p:spPr>
          <a:xfrm>
            <a:off x="177275" y="1799150"/>
            <a:ext cx="72729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 demos of these today!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62" name="Google Shape;462;p71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63" name="Google Shape;463;p71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71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">
  <p:cSld name="Blank_1_1_1_1_1_1_1">
    <p:bg>
      <p:bgPr>
        <a:solidFill>
          <a:schemeClr val="accent4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2"/>
          <p:cNvSpPr txBox="1"/>
          <p:nvPr/>
        </p:nvSpPr>
        <p:spPr>
          <a:xfrm>
            <a:off x="177275" y="1799150"/>
            <a:ext cx="64596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67" name="Google Shape;467;p72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68" name="Google Shape;468;p72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72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">
  <p:cSld name="Blank_1_1_1_1_1_1_1_1">
    <p:bg>
      <p:bgPr>
        <a:solidFill>
          <a:schemeClr val="accent6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3"/>
          <p:cNvSpPr txBox="1"/>
          <p:nvPr/>
        </p:nvSpPr>
        <p:spPr>
          <a:xfrm>
            <a:off x="177275" y="1799150"/>
            <a:ext cx="645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72" name="Google Shape;472;p73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73" name="Google Shape;473;p73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73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 1">
  <p:cSld name="Blank_1_1_1_1_1_1_1_1_1">
    <p:bg>
      <p:bgPr>
        <a:solidFill>
          <a:schemeClr val="accent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4"/>
          <p:cNvSpPr txBox="1"/>
          <p:nvPr/>
        </p:nvSpPr>
        <p:spPr>
          <a:xfrm>
            <a:off x="3188350" y="1714505"/>
            <a:ext cx="4230600" cy="17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Medplum offers FHIR infrastructure with integrated IDP, integration tools and flexible deployment options</a:t>
            </a: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7" name="Google Shape;477;p74" title="medplum logo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0000" y="1714509"/>
            <a:ext cx="818899" cy="176998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74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 1 1">
  <p:cSld name="Blank_1_1_1_1_1_1_1_1_1_1">
    <p:bg>
      <p:bgPr>
        <a:solidFill>
          <a:schemeClr val="dk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75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75"/>
          <p:cNvSpPr txBox="1"/>
          <p:nvPr/>
        </p:nvSpPr>
        <p:spPr>
          <a:xfrm>
            <a:off x="3167325" y="220975"/>
            <a:ext cx="4282800" cy="17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Medplum offers FHIR infrastructure with integrated IDP, integration tools and flexible deployment options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2" name="Google Shape;482;p75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6"/>
          <p:cNvSpPr/>
          <p:nvPr/>
        </p:nvSpPr>
        <p:spPr>
          <a:xfrm>
            <a:off x="2332325" y="179788"/>
            <a:ext cx="6591300" cy="138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76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6" name="Google Shape;486;p76"/>
          <p:cNvSpPr txBox="1"/>
          <p:nvPr/>
        </p:nvSpPr>
        <p:spPr>
          <a:xfrm>
            <a:off x="220350" y="180000"/>
            <a:ext cx="1463100" cy="1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Scaling Tiers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7" name="Google Shape;487;p76"/>
          <p:cNvSpPr/>
          <p:nvPr/>
        </p:nvSpPr>
        <p:spPr>
          <a:xfrm>
            <a:off x="2332325" y="3114150"/>
            <a:ext cx="6591300" cy="138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8" name="Google Shape;488;p76"/>
          <p:cNvCxnSpPr/>
          <p:nvPr/>
        </p:nvCxnSpPr>
        <p:spPr>
          <a:xfrm>
            <a:off x="4187750" y="439438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76"/>
          <p:cNvCxnSpPr/>
          <p:nvPr/>
        </p:nvCxnSpPr>
        <p:spPr>
          <a:xfrm>
            <a:off x="6114275" y="439438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" name="Google Shape;490;p76"/>
          <p:cNvSpPr txBox="1"/>
          <p:nvPr/>
        </p:nvSpPr>
        <p:spPr>
          <a:xfrm>
            <a:off x="6368375" y="508075"/>
            <a:ext cx="15666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+$4K</a:t>
            </a:r>
            <a:endParaRPr sz="4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1" name="Google Shape;491;p76"/>
          <p:cNvSpPr txBox="1"/>
          <p:nvPr/>
        </p:nvSpPr>
        <p:spPr>
          <a:xfrm>
            <a:off x="7884850" y="839375"/>
            <a:ext cx="8190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/ month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2" name="Google Shape;492;p76"/>
          <p:cNvSpPr txBox="1"/>
          <p:nvPr/>
        </p:nvSpPr>
        <p:spPr>
          <a:xfrm>
            <a:off x="4503188" y="702175"/>
            <a:ext cx="1425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2M-3M Patients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3" name="Google Shape;493;p76"/>
          <p:cNvSpPr txBox="1"/>
          <p:nvPr/>
        </p:nvSpPr>
        <p:spPr>
          <a:xfrm>
            <a:off x="2938550" y="709825"/>
            <a:ext cx="583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Tier 1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94" name="Google Shape;494;p76"/>
          <p:cNvGrpSpPr/>
          <p:nvPr/>
        </p:nvGrpSpPr>
        <p:grpSpPr>
          <a:xfrm>
            <a:off x="2332325" y="1646975"/>
            <a:ext cx="6591300" cy="1385100"/>
            <a:chOff x="2332325" y="1613813"/>
            <a:chExt cx="6591300" cy="1385100"/>
          </a:xfrm>
        </p:grpSpPr>
        <p:sp>
          <p:nvSpPr>
            <p:cNvPr id="495" name="Google Shape;495;p76"/>
            <p:cNvSpPr/>
            <p:nvPr/>
          </p:nvSpPr>
          <p:spPr>
            <a:xfrm>
              <a:off x="2332325" y="1613813"/>
              <a:ext cx="6591300" cy="13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96" name="Google Shape;496;p76"/>
            <p:cNvCxnSpPr/>
            <p:nvPr/>
          </p:nvCxnSpPr>
          <p:spPr>
            <a:xfrm>
              <a:off x="4187750" y="1873463"/>
              <a:ext cx="0" cy="86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7" name="Google Shape;497;p76"/>
            <p:cNvCxnSpPr/>
            <p:nvPr/>
          </p:nvCxnSpPr>
          <p:spPr>
            <a:xfrm>
              <a:off x="6114275" y="1873463"/>
              <a:ext cx="0" cy="86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8" name="Google Shape;498;p76"/>
            <p:cNvSpPr txBox="1"/>
            <p:nvPr/>
          </p:nvSpPr>
          <p:spPr>
            <a:xfrm>
              <a:off x="6386375" y="2037513"/>
              <a:ext cx="1530600" cy="5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4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+$8K</a:t>
              </a:r>
              <a:endParaRPr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99" name="Google Shape;499;p76"/>
            <p:cNvSpPr txBox="1"/>
            <p:nvPr/>
          </p:nvSpPr>
          <p:spPr>
            <a:xfrm>
              <a:off x="7884850" y="2347300"/>
              <a:ext cx="8190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/ month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00" name="Google Shape;500;p76"/>
            <p:cNvSpPr txBox="1"/>
            <p:nvPr/>
          </p:nvSpPr>
          <p:spPr>
            <a:xfrm>
              <a:off x="4503188" y="2231600"/>
              <a:ext cx="1425600" cy="19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3M-4M Patients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01" name="Google Shape;501;p76"/>
            <p:cNvSpPr txBox="1"/>
            <p:nvPr/>
          </p:nvSpPr>
          <p:spPr>
            <a:xfrm>
              <a:off x="2938550" y="2239250"/>
              <a:ext cx="5835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Tier 2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cxnSp>
        <p:nvCxnSpPr>
          <p:cNvPr id="502" name="Google Shape;502;p76"/>
          <p:cNvCxnSpPr/>
          <p:nvPr/>
        </p:nvCxnSpPr>
        <p:spPr>
          <a:xfrm>
            <a:off x="4187744" y="3373800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76"/>
          <p:cNvCxnSpPr/>
          <p:nvPr/>
        </p:nvCxnSpPr>
        <p:spPr>
          <a:xfrm>
            <a:off x="6114269" y="3373800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76"/>
          <p:cNvSpPr txBox="1"/>
          <p:nvPr/>
        </p:nvSpPr>
        <p:spPr>
          <a:xfrm>
            <a:off x="6368375" y="3524150"/>
            <a:ext cx="16242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+$12K</a:t>
            </a:r>
            <a:endParaRPr sz="4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5" name="Google Shape;505;p76"/>
          <p:cNvSpPr txBox="1"/>
          <p:nvPr/>
        </p:nvSpPr>
        <p:spPr>
          <a:xfrm>
            <a:off x="7958251" y="3851600"/>
            <a:ext cx="965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/ month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6" name="Google Shape;506;p76"/>
          <p:cNvSpPr txBox="1"/>
          <p:nvPr/>
        </p:nvSpPr>
        <p:spPr>
          <a:xfrm>
            <a:off x="4503207" y="3682700"/>
            <a:ext cx="1425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4M-5M Patients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7" name="Google Shape;507;p76"/>
          <p:cNvSpPr txBox="1"/>
          <p:nvPr/>
        </p:nvSpPr>
        <p:spPr>
          <a:xfrm>
            <a:off x="2938550" y="3706100"/>
            <a:ext cx="5835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Tier 3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8" name="Google Shape;508;p76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76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7"/>
          <p:cNvSpPr/>
          <p:nvPr/>
        </p:nvSpPr>
        <p:spPr>
          <a:xfrm>
            <a:off x="3167325" y="1985375"/>
            <a:ext cx="5756400" cy="100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77"/>
          <p:cNvSpPr/>
          <p:nvPr/>
        </p:nvSpPr>
        <p:spPr>
          <a:xfrm>
            <a:off x="3167325" y="823338"/>
            <a:ext cx="5756400" cy="100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77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4" name="Google Shape;514;p77"/>
          <p:cNvSpPr txBox="1"/>
          <p:nvPr/>
        </p:nvSpPr>
        <p:spPr>
          <a:xfrm>
            <a:off x="220350" y="180000"/>
            <a:ext cx="1463100" cy="1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 Notable Things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5" name="Google Shape;515;p77"/>
          <p:cNvSpPr/>
          <p:nvPr/>
        </p:nvSpPr>
        <p:spPr>
          <a:xfrm>
            <a:off x="3167325" y="3147425"/>
            <a:ext cx="5756400" cy="1002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77"/>
          <p:cNvSpPr txBox="1"/>
          <p:nvPr/>
        </p:nvSpPr>
        <p:spPr>
          <a:xfrm>
            <a:off x="3167325" y="180000"/>
            <a:ext cx="3515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 Notable Things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17" name="Google Shape;517;p77"/>
          <p:cNvSpPr txBox="1"/>
          <p:nvPr/>
        </p:nvSpPr>
        <p:spPr>
          <a:xfrm>
            <a:off x="3487175" y="1066250"/>
            <a:ext cx="517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18" name="Google Shape;518;p77"/>
          <p:cNvSpPr txBox="1"/>
          <p:nvPr/>
        </p:nvSpPr>
        <p:spPr>
          <a:xfrm>
            <a:off x="3417300" y="2196000"/>
            <a:ext cx="733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19" name="Google Shape;519;p77"/>
          <p:cNvSpPr txBox="1"/>
          <p:nvPr/>
        </p:nvSpPr>
        <p:spPr>
          <a:xfrm>
            <a:off x="3417300" y="3369425"/>
            <a:ext cx="733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20" name="Google Shape;520;p77"/>
          <p:cNvSpPr txBox="1"/>
          <p:nvPr/>
        </p:nvSpPr>
        <p:spPr>
          <a:xfrm>
            <a:off x="6114275" y="1249250"/>
            <a:ext cx="2767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Server-to-server connections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p77"/>
          <p:cNvSpPr txBox="1"/>
          <p:nvPr/>
        </p:nvSpPr>
        <p:spPr>
          <a:xfrm>
            <a:off x="6114275" y="2308050"/>
            <a:ext cx="2767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Medplum Bot - authenticate via JWT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2" name="Google Shape;522;p77"/>
          <p:cNvSpPr txBox="1"/>
          <p:nvPr/>
        </p:nvSpPr>
        <p:spPr>
          <a:xfrm>
            <a:off x="6114275" y="3481475"/>
            <a:ext cx="2767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Standard-ish FHIR API, similar to Medplum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3" name="Google Shape;523;p77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77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8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7" name="Google Shape;527;p78"/>
          <p:cNvSpPr txBox="1"/>
          <p:nvPr/>
        </p:nvSpPr>
        <p:spPr>
          <a:xfrm>
            <a:off x="3134475" y="180000"/>
            <a:ext cx="1561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Demos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28" name="Google Shape;528;p78"/>
          <p:cNvSpPr txBox="1"/>
          <p:nvPr/>
        </p:nvSpPr>
        <p:spPr>
          <a:xfrm>
            <a:off x="220350" y="180000"/>
            <a:ext cx="14631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9" name="Google Shape;529;p78"/>
          <p:cNvSpPr/>
          <p:nvPr/>
        </p:nvSpPr>
        <p:spPr>
          <a:xfrm>
            <a:off x="220350" y="1435200"/>
            <a:ext cx="2809500" cy="2279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78"/>
          <p:cNvSpPr/>
          <p:nvPr/>
        </p:nvSpPr>
        <p:spPr>
          <a:xfrm>
            <a:off x="3160200" y="1435200"/>
            <a:ext cx="2809500" cy="227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78"/>
          <p:cNvSpPr/>
          <p:nvPr/>
        </p:nvSpPr>
        <p:spPr>
          <a:xfrm>
            <a:off x="6114275" y="1435200"/>
            <a:ext cx="2809500" cy="2279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78"/>
          <p:cNvSpPr txBox="1"/>
          <p:nvPr/>
        </p:nvSpPr>
        <p:spPr>
          <a:xfrm>
            <a:off x="445650" y="1637400"/>
            <a:ext cx="5175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3" name="Google Shape;533;p78"/>
          <p:cNvSpPr txBox="1"/>
          <p:nvPr/>
        </p:nvSpPr>
        <p:spPr>
          <a:xfrm>
            <a:off x="3385500" y="1637400"/>
            <a:ext cx="7335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4" name="Google Shape;534;p78"/>
          <p:cNvSpPr txBox="1"/>
          <p:nvPr/>
        </p:nvSpPr>
        <p:spPr>
          <a:xfrm>
            <a:off x="6339575" y="1637400"/>
            <a:ext cx="5988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5" name="Google Shape;535;p78"/>
          <p:cNvSpPr txBox="1"/>
          <p:nvPr/>
        </p:nvSpPr>
        <p:spPr>
          <a:xfrm>
            <a:off x="445650" y="2849525"/>
            <a:ext cx="23589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Super simple: read a single patient from Epic (backend system)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36" name="Google Shape;536;p78"/>
          <p:cNvCxnSpPr/>
          <p:nvPr/>
        </p:nvCxnSpPr>
        <p:spPr>
          <a:xfrm>
            <a:off x="445650" y="2695275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78"/>
          <p:cNvCxnSpPr/>
          <p:nvPr/>
        </p:nvCxnSpPr>
        <p:spPr>
          <a:xfrm>
            <a:off x="3385500" y="2695275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78"/>
          <p:cNvCxnSpPr/>
          <p:nvPr/>
        </p:nvCxnSpPr>
        <p:spPr>
          <a:xfrm>
            <a:off x="6339575" y="2695850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" name="Google Shape;539;p78"/>
          <p:cNvSpPr txBox="1"/>
          <p:nvPr/>
        </p:nvSpPr>
        <p:spPr>
          <a:xfrm>
            <a:off x="3385500" y="2849525"/>
            <a:ext cx="23589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HL7: Process ADT Feed message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0" name="Google Shape;540;p78"/>
          <p:cNvSpPr txBox="1"/>
          <p:nvPr/>
        </p:nvSpPr>
        <p:spPr>
          <a:xfrm>
            <a:off x="6339575" y="2849525"/>
            <a:ext cx="23589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Patient FHIR App: Patient auth and import personal health data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41" name="Google Shape;541;p78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78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1_1_1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9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5" name="Google Shape;545;p79"/>
          <p:cNvSpPr txBox="1"/>
          <p:nvPr/>
        </p:nvSpPr>
        <p:spPr>
          <a:xfrm>
            <a:off x="548000" y="1759375"/>
            <a:ext cx="23589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Super Simple 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6" name="Google Shape;546;p79"/>
          <p:cNvSpPr txBox="1"/>
          <p:nvPr/>
        </p:nvSpPr>
        <p:spPr>
          <a:xfrm>
            <a:off x="548000" y="2523374"/>
            <a:ext cx="23589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Read a single patient from Epic (backend system)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7" name="Google Shape;547;p79"/>
          <p:cNvSpPr txBox="1"/>
          <p:nvPr/>
        </p:nvSpPr>
        <p:spPr>
          <a:xfrm>
            <a:off x="3618625" y="2523375"/>
            <a:ext cx="2358900" cy="1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Process ADT Feed message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8" name="Google Shape;548;p79"/>
          <p:cNvSpPr txBox="1"/>
          <p:nvPr/>
        </p:nvSpPr>
        <p:spPr>
          <a:xfrm>
            <a:off x="6460650" y="2523375"/>
            <a:ext cx="1934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Patient auth and import personal health data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9" name="Google Shape;549;p79"/>
          <p:cNvSpPr txBox="1"/>
          <p:nvPr/>
        </p:nvSpPr>
        <p:spPr>
          <a:xfrm>
            <a:off x="191150" y="180000"/>
            <a:ext cx="1463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Demos</a:t>
            </a:r>
            <a:endParaRPr sz="24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50" name="Google Shape;550;p79"/>
          <p:cNvSpPr txBox="1"/>
          <p:nvPr/>
        </p:nvSpPr>
        <p:spPr>
          <a:xfrm>
            <a:off x="3618625" y="1759375"/>
            <a:ext cx="23589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HL7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1" name="Google Shape;551;p79"/>
          <p:cNvSpPr txBox="1"/>
          <p:nvPr/>
        </p:nvSpPr>
        <p:spPr>
          <a:xfrm>
            <a:off x="6460650" y="1759375"/>
            <a:ext cx="2406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Patient FHIR App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2" name="Google Shape;552;p79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79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 1">
  <p:cSld name="CUSTOM_1_1_1_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80"/>
          <p:cNvSpPr/>
          <p:nvPr/>
        </p:nvSpPr>
        <p:spPr>
          <a:xfrm>
            <a:off x="3029725" y="-17250"/>
            <a:ext cx="61038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80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7" name="Google Shape;557;p80"/>
          <p:cNvSpPr txBox="1"/>
          <p:nvPr/>
        </p:nvSpPr>
        <p:spPr>
          <a:xfrm>
            <a:off x="220350" y="180000"/>
            <a:ext cx="9813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8" name="Google Shape;558;p80"/>
          <p:cNvSpPr txBox="1"/>
          <p:nvPr/>
        </p:nvSpPr>
        <p:spPr>
          <a:xfrm>
            <a:off x="3167325" y="180000"/>
            <a:ext cx="19443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59" name="Google Shape;559;p80"/>
          <p:cNvSpPr txBox="1"/>
          <p:nvPr/>
        </p:nvSpPr>
        <p:spPr>
          <a:xfrm>
            <a:off x="3167325" y="159555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60" name="Google Shape;560;p80"/>
          <p:cNvSpPr txBox="1"/>
          <p:nvPr/>
        </p:nvSpPr>
        <p:spPr>
          <a:xfrm>
            <a:off x="3477650" y="1595550"/>
            <a:ext cx="27423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Requirements Summary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Medplum Offering for Elekta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Hosting Options Matrix</a:t>
            </a:r>
            <a:endParaRPr sz="1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Per Customer Pricing</a:t>
            </a:r>
            <a:endParaRPr sz="1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Substitutes comparison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Other Items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3167325" y="205350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62" name="Google Shape;562;p80"/>
          <p:cNvSpPr txBox="1"/>
          <p:nvPr/>
        </p:nvSpPr>
        <p:spPr>
          <a:xfrm>
            <a:off x="3167325" y="2876225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63" name="Google Shape;563;p80"/>
          <p:cNvSpPr txBox="1"/>
          <p:nvPr/>
        </p:nvSpPr>
        <p:spPr>
          <a:xfrm>
            <a:off x="3167325" y="333645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564" name="Google Shape;564;p80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80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2">
  <p:cSld name="CUSTOM_2_1_1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1"/>
          <p:cNvSpPr txBox="1"/>
          <p:nvPr>
            <p:ph idx="12" type="sldNum"/>
          </p:nvPr>
        </p:nvSpPr>
        <p:spPr>
          <a:xfrm>
            <a:off x="8614049" y="4830300"/>
            <a:ext cx="309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1pPr>
            <a:lvl2pPr lvl="1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2pPr>
            <a:lvl3pPr lvl="2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3pPr>
            <a:lvl4pPr lvl="3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4pPr>
            <a:lvl5pPr lvl="4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5pPr>
            <a:lvl6pPr lvl="5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6pPr>
            <a:lvl7pPr lvl="6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7pPr>
            <a:lvl8pPr lvl="7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8pPr>
            <a:lvl9pPr lvl="8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81"/>
          <p:cNvSpPr txBox="1"/>
          <p:nvPr>
            <p:ph type="title"/>
          </p:nvPr>
        </p:nvSpPr>
        <p:spPr>
          <a:xfrm>
            <a:off x="270000" y="270000"/>
            <a:ext cx="56604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Medium"/>
              <a:buNone/>
              <a:defRPr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9" name="Google Shape;569;p81"/>
          <p:cNvSpPr txBox="1"/>
          <p:nvPr>
            <p:ph idx="1" type="subTitle"/>
          </p:nvPr>
        </p:nvSpPr>
        <p:spPr>
          <a:xfrm>
            <a:off x="3188350" y="4835700"/>
            <a:ext cx="4041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oppins"/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05">
          <p15:clr>
            <a:srgbClr val="FA7B17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8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572" name="Google Shape;572;p8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3" name="Google Shape;573;p82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3"/>
          <p:cNvSpPr txBox="1"/>
          <p:nvPr>
            <p:ph type="title"/>
          </p:nvPr>
        </p:nvSpPr>
        <p:spPr>
          <a:xfrm>
            <a:off x="159300" y="140225"/>
            <a:ext cx="886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6" name="Google Shape;576;p83"/>
          <p:cNvSpPr txBox="1"/>
          <p:nvPr>
            <p:ph idx="1" type="body"/>
          </p:nvPr>
        </p:nvSpPr>
        <p:spPr>
          <a:xfrm>
            <a:off x="159300" y="812625"/>
            <a:ext cx="8862000" cy="37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7" name="Google Shape;577;p83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 1">
  <p:cSld name="TITLE_AND_BODY_1_1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84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85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bg>
      <p:bgPr>
        <a:solidFill>
          <a:schemeClr val="accent6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7"/>
          <p:cNvSpPr txBox="1"/>
          <p:nvPr>
            <p:ph idx="12" type="sldNum"/>
          </p:nvPr>
        </p:nvSpPr>
        <p:spPr>
          <a:xfrm>
            <a:off x="8540388" y="4652050"/>
            <a:ext cx="333600" cy="138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algn="r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algn="r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algn="r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algn="r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algn="r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algn="r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algn="r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algn="r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6" name="Google Shape;586;p87"/>
          <p:cNvSpPr txBox="1"/>
          <p:nvPr/>
        </p:nvSpPr>
        <p:spPr>
          <a:xfrm>
            <a:off x="3167300" y="113675"/>
            <a:ext cx="42288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Build your own </a:t>
            </a:r>
            <a:b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EHR Integrating using Open Source</a:t>
            </a:r>
            <a:endParaRPr b="0" sz="3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587" name="Google Shape;587;p87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45975"/>
            <a:ext cx="1311652" cy="28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8" name="Google Shape;588;p87"/>
          <p:cNvGrpSpPr/>
          <p:nvPr/>
        </p:nvGrpSpPr>
        <p:grpSpPr>
          <a:xfrm>
            <a:off x="7933350" y="4501425"/>
            <a:ext cx="990300" cy="325525"/>
            <a:chOff x="3188350" y="2350300"/>
            <a:chExt cx="990300" cy="325525"/>
          </a:xfrm>
        </p:grpSpPr>
        <p:sp>
          <p:nvSpPr>
            <p:cNvPr id="589" name="Google Shape;589;p87"/>
            <p:cNvSpPr/>
            <p:nvPr/>
          </p:nvSpPr>
          <p:spPr>
            <a:xfrm>
              <a:off x="3188350" y="2392325"/>
              <a:ext cx="990300" cy="28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87"/>
            <p:cNvSpPr txBox="1"/>
            <p:nvPr/>
          </p:nvSpPr>
          <p:spPr>
            <a:xfrm>
              <a:off x="3188350" y="2350300"/>
              <a:ext cx="9903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Webinar</a:t>
              </a:r>
              <a:endPara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91" name="Google Shape;591;p87"/>
          <p:cNvSpPr txBox="1"/>
          <p:nvPr/>
        </p:nvSpPr>
        <p:spPr>
          <a:xfrm>
            <a:off x="3073400" y="4597650"/>
            <a:ext cx="2426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Sep 21, 2023–1pm PT, 4pm ET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 type="tx">
  <p:cSld name="TITLE_AND_BODY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Google Shape;593;p88"/>
          <p:cNvGrpSpPr/>
          <p:nvPr/>
        </p:nvGrpSpPr>
        <p:grpSpPr>
          <a:xfrm>
            <a:off x="4792950" y="4395575"/>
            <a:ext cx="990300" cy="325525"/>
            <a:chOff x="4792950" y="4547975"/>
            <a:chExt cx="990300" cy="325525"/>
          </a:xfrm>
        </p:grpSpPr>
        <p:sp>
          <p:nvSpPr>
            <p:cNvPr id="594" name="Google Shape;594;p88"/>
            <p:cNvSpPr/>
            <p:nvPr/>
          </p:nvSpPr>
          <p:spPr>
            <a:xfrm>
              <a:off x="4792950" y="4590000"/>
              <a:ext cx="990300" cy="2835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88"/>
            <p:cNvSpPr txBox="1"/>
            <p:nvPr/>
          </p:nvSpPr>
          <p:spPr>
            <a:xfrm>
              <a:off x="4792950" y="4547975"/>
              <a:ext cx="9903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Webinar</a:t>
              </a:r>
              <a:endPara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96" name="Google Shape;596;p88"/>
          <p:cNvSpPr/>
          <p:nvPr/>
        </p:nvSpPr>
        <p:spPr>
          <a:xfrm>
            <a:off x="0" y="0"/>
            <a:ext cx="4568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88"/>
          <p:cNvSpPr txBox="1"/>
          <p:nvPr/>
        </p:nvSpPr>
        <p:spPr>
          <a:xfrm>
            <a:off x="220350" y="180000"/>
            <a:ext cx="3570300" cy="9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Build your own </a:t>
            </a:r>
            <a:b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EHR Integrating using Open Source</a:t>
            </a:r>
            <a:endParaRPr b="0" sz="2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598" name="Google Shape;598;p88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22455" y="4451315"/>
            <a:ext cx="990301" cy="214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88" title="img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96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88" title="img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24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88" title="img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52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88"/>
          <p:cNvSpPr txBox="1"/>
          <p:nvPr/>
        </p:nvSpPr>
        <p:spPr>
          <a:xfrm>
            <a:off x="46317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Alex Goel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CEO Technology Health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3" name="Google Shape;603;p88"/>
          <p:cNvSpPr txBox="1"/>
          <p:nvPr/>
        </p:nvSpPr>
        <p:spPr>
          <a:xfrm>
            <a:off x="61045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Reshma Khilnani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CEO Medplum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4" name="Google Shape;604;p88"/>
          <p:cNvSpPr txBox="1"/>
          <p:nvPr/>
        </p:nvSpPr>
        <p:spPr>
          <a:xfrm>
            <a:off x="75598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Johs Leben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CTO Topology Health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5" name="Google Shape;605;p88" title="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6668" y="4123525"/>
            <a:ext cx="594075" cy="59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chemeClr val="accent5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89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89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p89"/>
          <p:cNvSpPr txBox="1"/>
          <p:nvPr/>
        </p:nvSpPr>
        <p:spPr>
          <a:xfrm>
            <a:off x="3167325" y="1920150"/>
            <a:ext cx="36924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source/demos of these today!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10" name="Google Shape;610;p89"/>
          <p:cNvSpPr txBox="1"/>
          <p:nvPr/>
        </p:nvSpPr>
        <p:spPr>
          <a:xfrm>
            <a:off x="157025" y="1954275"/>
            <a:ext cx="858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bg>
      <p:bgPr>
        <a:solidFill>
          <a:schemeClr val="accent3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90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90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p90"/>
          <p:cNvSpPr txBox="1"/>
          <p:nvPr/>
        </p:nvSpPr>
        <p:spPr>
          <a:xfrm>
            <a:off x="3167325" y="1920150"/>
            <a:ext cx="36924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15" name="Google Shape;615;p90"/>
          <p:cNvSpPr txBox="1"/>
          <p:nvPr/>
        </p:nvSpPr>
        <p:spPr>
          <a:xfrm>
            <a:off x="157025" y="1954275"/>
            <a:ext cx="1446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_2_1">
    <p:bg>
      <p:bgPr>
        <a:solidFill>
          <a:schemeClr val="lt2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91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91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9" name="Google Shape;619;p91"/>
          <p:cNvSpPr txBox="1"/>
          <p:nvPr/>
        </p:nvSpPr>
        <p:spPr>
          <a:xfrm>
            <a:off x="3167325" y="2066775"/>
            <a:ext cx="3692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20" name="Google Shape;620;p91"/>
          <p:cNvSpPr txBox="1"/>
          <p:nvPr/>
        </p:nvSpPr>
        <p:spPr>
          <a:xfrm>
            <a:off x="157025" y="1954275"/>
            <a:ext cx="15369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">
  <p:cSld name="Blank_1_1_1">
    <p:bg>
      <p:bgPr>
        <a:solidFill>
          <a:schemeClr val="lt1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92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source/demos of these today!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23" name="Google Shape;623;p92"/>
          <p:cNvSpPr txBox="1"/>
          <p:nvPr/>
        </p:nvSpPr>
        <p:spPr>
          <a:xfrm>
            <a:off x="8163125" y="180000"/>
            <a:ext cx="8190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624" name="Google Shape;624;p92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92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">
  <p:cSld name="Blank_1_1_1_1">
    <p:bg>
      <p:bgPr>
        <a:solidFill>
          <a:schemeClr val="accent4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Google Shape;627;p93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93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9" name="Google Shape;629;p93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30" name="Google Shape;630;p93"/>
          <p:cNvSpPr txBox="1"/>
          <p:nvPr/>
        </p:nvSpPr>
        <p:spPr>
          <a:xfrm>
            <a:off x="7917450" y="180000"/>
            <a:ext cx="10062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">
  <p:cSld name="Blank_1_1_1_1_1">
    <p:bg>
      <p:bgPr>
        <a:solidFill>
          <a:schemeClr val="accent6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94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94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94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35" name="Google Shape;635;p94"/>
          <p:cNvSpPr txBox="1"/>
          <p:nvPr/>
        </p:nvSpPr>
        <p:spPr>
          <a:xfrm>
            <a:off x="7975975" y="180000"/>
            <a:ext cx="10062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">
  <p:cSld name="Blank_1_1_1_1_1_1">
    <p:bg>
      <p:bgPr>
        <a:solidFill>
          <a:schemeClr val="lt1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95"/>
          <p:cNvSpPr txBox="1"/>
          <p:nvPr/>
        </p:nvSpPr>
        <p:spPr>
          <a:xfrm>
            <a:off x="177275" y="1799150"/>
            <a:ext cx="72729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 demos of these today!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38" name="Google Shape;638;p95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639" name="Google Shape;639;p95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95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">
  <p:cSld name="Blank_1_1_1_1_1_1_1">
    <p:bg>
      <p:bgPr>
        <a:solidFill>
          <a:schemeClr val="accent4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96"/>
          <p:cNvSpPr txBox="1"/>
          <p:nvPr/>
        </p:nvSpPr>
        <p:spPr>
          <a:xfrm>
            <a:off x="177275" y="1799150"/>
            <a:ext cx="64596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43" name="Google Shape;643;p96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644" name="Google Shape;644;p96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96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">
  <p:cSld name="Blank_1_1_1_1_1_1_1_1">
    <p:bg>
      <p:bgPr>
        <a:solidFill>
          <a:schemeClr val="accent6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97"/>
          <p:cNvSpPr txBox="1"/>
          <p:nvPr/>
        </p:nvSpPr>
        <p:spPr>
          <a:xfrm>
            <a:off x="177275" y="1799150"/>
            <a:ext cx="645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48" name="Google Shape;648;p97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649" name="Google Shape;649;p97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97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 1">
  <p:cSld name="Blank_1_1_1_1_1_1_1_1_1">
    <p:bg>
      <p:bgPr>
        <a:solidFill>
          <a:schemeClr val="accent2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8"/>
          <p:cNvSpPr txBox="1"/>
          <p:nvPr/>
        </p:nvSpPr>
        <p:spPr>
          <a:xfrm>
            <a:off x="3188350" y="1714505"/>
            <a:ext cx="4230600" cy="17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Medplum offers FHIR infrastructure with integrated IDP, integration tools and flexible deployment options</a:t>
            </a: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3" name="Google Shape;653;p98" title="medplum logo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0000" y="1714509"/>
            <a:ext cx="818899" cy="176998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98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 1 1">
  <p:cSld name="Blank_1_1_1_1_1_1_1_1_1_1">
    <p:bg>
      <p:bgPr>
        <a:solidFill>
          <a:schemeClr val="dk2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99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99"/>
          <p:cNvSpPr txBox="1"/>
          <p:nvPr/>
        </p:nvSpPr>
        <p:spPr>
          <a:xfrm>
            <a:off x="3167325" y="220975"/>
            <a:ext cx="4282800" cy="17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Medplum offers FHIR infrastructure with integrated IDP, integration tools and flexible deployment options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8" name="Google Shape;658;p99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00"/>
          <p:cNvSpPr/>
          <p:nvPr/>
        </p:nvSpPr>
        <p:spPr>
          <a:xfrm>
            <a:off x="2332325" y="179788"/>
            <a:ext cx="6591300" cy="138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00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2" name="Google Shape;662;p100"/>
          <p:cNvSpPr txBox="1"/>
          <p:nvPr/>
        </p:nvSpPr>
        <p:spPr>
          <a:xfrm>
            <a:off x="220350" y="180000"/>
            <a:ext cx="1463100" cy="1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Scaling Tiers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p100"/>
          <p:cNvSpPr/>
          <p:nvPr/>
        </p:nvSpPr>
        <p:spPr>
          <a:xfrm>
            <a:off x="2332325" y="3114150"/>
            <a:ext cx="6591300" cy="138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4" name="Google Shape;664;p100"/>
          <p:cNvCxnSpPr/>
          <p:nvPr/>
        </p:nvCxnSpPr>
        <p:spPr>
          <a:xfrm>
            <a:off x="4187750" y="439438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100"/>
          <p:cNvCxnSpPr/>
          <p:nvPr/>
        </p:nvCxnSpPr>
        <p:spPr>
          <a:xfrm>
            <a:off x="6114275" y="439438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6" name="Google Shape;666;p100"/>
          <p:cNvSpPr txBox="1"/>
          <p:nvPr/>
        </p:nvSpPr>
        <p:spPr>
          <a:xfrm>
            <a:off x="6368375" y="508075"/>
            <a:ext cx="15666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+$4K</a:t>
            </a:r>
            <a:endParaRPr sz="4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7" name="Google Shape;667;p100"/>
          <p:cNvSpPr txBox="1"/>
          <p:nvPr/>
        </p:nvSpPr>
        <p:spPr>
          <a:xfrm>
            <a:off x="7884850" y="839375"/>
            <a:ext cx="8190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/ month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8" name="Google Shape;668;p100"/>
          <p:cNvSpPr txBox="1"/>
          <p:nvPr/>
        </p:nvSpPr>
        <p:spPr>
          <a:xfrm>
            <a:off x="4503188" y="702175"/>
            <a:ext cx="1425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2M-3M Patients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9" name="Google Shape;669;p100"/>
          <p:cNvSpPr txBox="1"/>
          <p:nvPr/>
        </p:nvSpPr>
        <p:spPr>
          <a:xfrm>
            <a:off x="2938550" y="709825"/>
            <a:ext cx="583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Tier 1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70" name="Google Shape;670;p100"/>
          <p:cNvGrpSpPr/>
          <p:nvPr/>
        </p:nvGrpSpPr>
        <p:grpSpPr>
          <a:xfrm>
            <a:off x="2332325" y="1646975"/>
            <a:ext cx="6591300" cy="1385100"/>
            <a:chOff x="2332325" y="1613813"/>
            <a:chExt cx="6591300" cy="1385100"/>
          </a:xfrm>
        </p:grpSpPr>
        <p:sp>
          <p:nvSpPr>
            <p:cNvPr id="671" name="Google Shape;671;p100"/>
            <p:cNvSpPr/>
            <p:nvPr/>
          </p:nvSpPr>
          <p:spPr>
            <a:xfrm>
              <a:off x="2332325" y="1613813"/>
              <a:ext cx="6591300" cy="13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72" name="Google Shape;672;p100"/>
            <p:cNvCxnSpPr/>
            <p:nvPr/>
          </p:nvCxnSpPr>
          <p:spPr>
            <a:xfrm>
              <a:off x="4187750" y="1873463"/>
              <a:ext cx="0" cy="86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" name="Google Shape;673;p100"/>
            <p:cNvCxnSpPr/>
            <p:nvPr/>
          </p:nvCxnSpPr>
          <p:spPr>
            <a:xfrm>
              <a:off x="6114275" y="1873463"/>
              <a:ext cx="0" cy="86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4" name="Google Shape;674;p100"/>
            <p:cNvSpPr txBox="1"/>
            <p:nvPr/>
          </p:nvSpPr>
          <p:spPr>
            <a:xfrm>
              <a:off x="6386375" y="2037513"/>
              <a:ext cx="1530600" cy="5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4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+$8K</a:t>
              </a:r>
              <a:endParaRPr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5" name="Google Shape;675;p100"/>
            <p:cNvSpPr txBox="1"/>
            <p:nvPr/>
          </p:nvSpPr>
          <p:spPr>
            <a:xfrm>
              <a:off x="7884850" y="2347300"/>
              <a:ext cx="8190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/ month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6" name="Google Shape;676;p100"/>
            <p:cNvSpPr txBox="1"/>
            <p:nvPr/>
          </p:nvSpPr>
          <p:spPr>
            <a:xfrm>
              <a:off x="4503188" y="2231600"/>
              <a:ext cx="1425600" cy="19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3M-4M Patients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7" name="Google Shape;677;p100"/>
            <p:cNvSpPr txBox="1"/>
            <p:nvPr/>
          </p:nvSpPr>
          <p:spPr>
            <a:xfrm>
              <a:off x="2938550" y="2239250"/>
              <a:ext cx="5835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Tier 2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cxnSp>
        <p:nvCxnSpPr>
          <p:cNvPr id="678" name="Google Shape;678;p100"/>
          <p:cNvCxnSpPr/>
          <p:nvPr/>
        </p:nvCxnSpPr>
        <p:spPr>
          <a:xfrm>
            <a:off x="4187744" y="3373800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00"/>
          <p:cNvCxnSpPr/>
          <p:nvPr/>
        </p:nvCxnSpPr>
        <p:spPr>
          <a:xfrm>
            <a:off x="6114269" y="3373800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0" name="Google Shape;680;p100"/>
          <p:cNvSpPr txBox="1"/>
          <p:nvPr/>
        </p:nvSpPr>
        <p:spPr>
          <a:xfrm>
            <a:off x="6368375" y="3524150"/>
            <a:ext cx="16242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+$12K</a:t>
            </a:r>
            <a:endParaRPr sz="4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p100"/>
          <p:cNvSpPr txBox="1"/>
          <p:nvPr/>
        </p:nvSpPr>
        <p:spPr>
          <a:xfrm>
            <a:off x="7958251" y="3851600"/>
            <a:ext cx="965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/ month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2" name="Google Shape;682;p100"/>
          <p:cNvSpPr txBox="1"/>
          <p:nvPr/>
        </p:nvSpPr>
        <p:spPr>
          <a:xfrm>
            <a:off x="4503207" y="3682700"/>
            <a:ext cx="1425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4M-5M Patients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3" name="Google Shape;683;p100"/>
          <p:cNvSpPr txBox="1"/>
          <p:nvPr/>
        </p:nvSpPr>
        <p:spPr>
          <a:xfrm>
            <a:off x="2938550" y="3706100"/>
            <a:ext cx="5835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Tier 3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84" name="Google Shape;684;p100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100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01"/>
          <p:cNvSpPr/>
          <p:nvPr/>
        </p:nvSpPr>
        <p:spPr>
          <a:xfrm>
            <a:off x="3167325" y="1985375"/>
            <a:ext cx="5756400" cy="100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01"/>
          <p:cNvSpPr/>
          <p:nvPr/>
        </p:nvSpPr>
        <p:spPr>
          <a:xfrm>
            <a:off x="3167325" y="823338"/>
            <a:ext cx="5756400" cy="100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01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0" name="Google Shape;690;p101"/>
          <p:cNvSpPr txBox="1"/>
          <p:nvPr/>
        </p:nvSpPr>
        <p:spPr>
          <a:xfrm>
            <a:off x="220350" y="180000"/>
            <a:ext cx="1463100" cy="1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 Notable Things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1" name="Google Shape;691;p101"/>
          <p:cNvSpPr/>
          <p:nvPr/>
        </p:nvSpPr>
        <p:spPr>
          <a:xfrm>
            <a:off x="3167325" y="3147425"/>
            <a:ext cx="5756400" cy="1002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01"/>
          <p:cNvSpPr txBox="1"/>
          <p:nvPr/>
        </p:nvSpPr>
        <p:spPr>
          <a:xfrm>
            <a:off x="3167325" y="180000"/>
            <a:ext cx="3515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 Notable Things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93" name="Google Shape;693;p101"/>
          <p:cNvSpPr txBox="1"/>
          <p:nvPr/>
        </p:nvSpPr>
        <p:spPr>
          <a:xfrm>
            <a:off x="3487175" y="1066250"/>
            <a:ext cx="517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94" name="Google Shape;694;p101"/>
          <p:cNvSpPr txBox="1"/>
          <p:nvPr/>
        </p:nvSpPr>
        <p:spPr>
          <a:xfrm>
            <a:off x="3417300" y="2196000"/>
            <a:ext cx="733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95" name="Google Shape;695;p101"/>
          <p:cNvSpPr txBox="1"/>
          <p:nvPr/>
        </p:nvSpPr>
        <p:spPr>
          <a:xfrm>
            <a:off x="3417300" y="3369425"/>
            <a:ext cx="733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96" name="Google Shape;696;p101"/>
          <p:cNvSpPr txBox="1"/>
          <p:nvPr/>
        </p:nvSpPr>
        <p:spPr>
          <a:xfrm>
            <a:off x="6114275" y="1249250"/>
            <a:ext cx="2767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Server-to-server connections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7" name="Google Shape;697;p101"/>
          <p:cNvSpPr txBox="1"/>
          <p:nvPr/>
        </p:nvSpPr>
        <p:spPr>
          <a:xfrm>
            <a:off x="6114275" y="2308050"/>
            <a:ext cx="2767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Medplum Bot - authenticate via JWT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8" name="Google Shape;698;p101"/>
          <p:cNvSpPr txBox="1"/>
          <p:nvPr/>
        </p:nvSpPr>
        <p:spPr>
          <a:xfrm>
            <a:off x="6114275" y="3481475"/>
            <a:ext cx="2767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Standard-ish FHIR API, similar to Medplum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99" name="Google Shape;699;p101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101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02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3" name="Google Shape;703;p102"/>
          <p:cNvSpPr txBox="1"/>
          <p:nvPr/>
        </p:nvSpPr>
        <p:spPr>
          <a:xfrm>
            <a:off x="3134475" y="180000"/>
            <a:ext cx="1561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Demos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04" name="Google Shape;704;p102"/>
          <p:cNvSpPr txBox="1"/>
          <p:nvPr/>
        </p:nvSpPr>
        <p:spPr>
          <a:xfrm>
            <a:off x="220350" y="180000"/>
            <a:ext cx="14631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5" name="Google Shape;705;p102"/>
          <p:cNvSpPr/>
          <p:nvPr/>
        </p:nvSpPr>
        <p:spPr>
          <a:xfrm>
            <a:off x="220350" y="1435200"/>
            <a:ext cx="2809500" cy="2279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02"/>
          <p:cNvSpPr/>
          <p:nvPr/>
        </p:nvSpPr>
        <p:spPr>
          <a:xfrm>
            <a:off x="3160200" y="1435200"/>
            <a:ext cx="2809500" cy="227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02"/>
          <p:cNvSpPr/>
          <p:nvPr/>
        </p:nvSpPr>
        <p:spPr>
          <a:xfrm>
            <a:off x="6114275" y="1435200"/>
            <a:ext cx="2809500" cy="2279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02"/>
          <p:cNvSpPr txBox="1"/>
          <p:nvPr/>
        </p:nvSpPr>
        <p:spPr>
          <a:xfrm>
            <a:off x="445650" y="1637400"/>
            <a:ext cx="5175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9" name="Google Shape;709;p102"/>
          <p:cNvSpPr txBox="1"/>
          <p:nvPr/>
        </p:nvSpPr>
        <p:spPr>
          <a:xfrm>
            <a:off x="3385500" y="1637400"/>
            <a:ext cx="7335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0" name="Google Shape;710;p102"/>
          <p:cNvSpPr txBox="1"/>
          <p:nvPr/>
        </p:nvSpPr>
        <p:spPr>
          <a:xfrm>
            <a:off x="6339575" y="1637400"/>
            <a:ext cx="5988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1" name="Google Shape;711;p102"/>
          <p:cNvSpPr txBox="1"/>
          <p:nvPr/>
        </p:nvSpPr>
        <p:spPr>
          <a:xfrm>
            <a:off x="445650" y="2849525"/>
            <a:ext cx="23589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Super simple: read a single patient from Epic (backend system)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12" name="Google Shape;712;p102"/>
          <p:cNvCxnSpPr/>
          <p:nvPr/>
        </p:nvCxnSpPr>
        <p:spPr>
          <a:xfrm>
            <a:off x="445650" y="2695275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102"/>
          <p:cNvCxnSpPr/>
          <p:nvPr/>
        </p:nvCxnSpPr>
        <p:spPr>
          <a:xfrm>
            <a:off x="3385500" y="2695275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102"/>
          <p:cNvCxnSpPr/>
          <p:nvPr/>
        </p:nvCxnSpPr>
        <p:spPr>
          <a:xfrm>
            <a:off x="6339575" y="2695850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5" name="Google Shape;715;p102"/>
          <p:cNvSpPr txBox="1"/>
          <p:nvPr/>
        </p:nvSpPr>
        <p:spPr>
          <a:xfrm>
            <a:off x="3385500" y="2849525"/>
            <a:ext cx="23589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HL7: Process ADT Feed message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6" name="Google Shape;716;p102"/>
          <p:cNvSpPr txBox="1"/>
          <p:nvPr/>
        </p:nvSpPr>
        <p:spPr>
          <a:xfrm>
            <a:off x="6339575" y="2849525"/>
            <a:ext cx="23589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Patient FHIR App: Patient auth and import personal health data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7" name="Google Shape;717;p102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102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1_1_1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03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1" name="Google Shape;721;p103"/>
          <p:cNvSpPr txBox="1"/>
          <p:nvPr/>
        </p:nvSpPr>
        <p:spPr>
          <a:xfrm>
            <a:off x="548000" y="1759375"/>
            <a:ext cx="23589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Super Simple 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2" name="Google Shape;722;p103"/>
          <p:cNvSpPr txBox="1"/>
          <p:nvPr/>
        </p:nvSpPr>
        <p:spPr>
          <a:xfrm>
            <a:off x="548000" y="2523374"/>
            <a:ext cx="23589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Read a single patient from Epic (backend system)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3" name="Google Shape;723;p103"/>
          <p:cNvSpPr txBox="1"/>
          <p:nvPr/>
        </p:nvSpPr>
        <p:spPr>
          <a:xfrm>
            <a:off x="3618625" y="2523375"/>
            <a:ext cx="2358900" cy="1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Process ADT Feed message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4" name="Google Shape;724;p103"/>
          <p:cNvSpPr txBox="1"/>
          <p:nvPr/>
        </p:nvSpPr>
        <p:spPr>
          <a:xfrm>
            <a:off x="6460650" y="2523375"/>
            <a:ext cx="1934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Patient auth and import personal health data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5" name="Google Shape;725;p103"/>
          <p:cNvSpPr txBox="1"/>
          <p:nvPr/>
        </p:nvSpPr>
        <p:spPr>
          <a:xfrm>
            <a:off x="191150" y="180000"/>
            <a:ext cx="1463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Demos</a:t>
            </a:r>
            <a:endParaRPr sz="24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26" name="Google Shape;726;p103"/>
          <p:cNvSpPr txBox="1"/>
          <p:nvPr/>
        </p:nvSpPr>
        <p:spPr>
          <a:xfrm>
            <a:off x="3618625" y="1759375"/>
            <a:ext cx="23589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HL7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7" name="Google Shape;727;p103"/>
          <p:cNvSpPr txBox="1"/>
          <p:nvPr/>
        </p:nvSpPr>
        <p:spPr>
          <a:xfrm>
            <a:off x="6460650" y="1759375"/>
            <a:ext cx="2406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Patient FHIR App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28" name="Google Shape;728;p103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103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 1">
  <p:cSld name="CUSTOM_1_1_1_1"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04"/>
          <p:cNvSpPr/>
          <p:nvPr/>
        </p:nvSpPr>
        <p:spPr>
          <a:xfrm>
            <a:off x="3029725" y="-17250"/>
            <a:ext cx="61038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04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3" name="Google Shape;733;p104"/>
          <p:cNvSpPr txBox="1"/>
          <p:nvPr/>
        </p:nvSpPr>
        <p:spPr>
          <a:xfrm>
            <a:off x="220350" y="180000"/>
            <a:ext cx="9813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4" name="Google Shape;734;p104"/>
          <p:cNvSpPr txBox="1"/>
          <p:nvPr/>
        </p:nvSpPr>
        <p:spPr>
          <a:xfrm>
            <a:off x="3167325" y="180000"/>
            <a:ext cx="19443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35" name="Google Shape;735;p104"/>
          <p:cNvSpPr txBox="1"/>
          <p:nvPr/>
        </p:nvSpPr>
        <p:spPr>
          <a:xfrm>
            <a:off x="3167325" y="159555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36" name="Google Shape;736;p104"/>
          <p:cNvSpPr txBox="1"/>
          <p:nvPr/>
        </p:nvSpPr>
        <p:spPr>
          <a:xfrm>
            <a:off x="3477650" y="1595550"/>
            <a:ext cx="27423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Requirements Summary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Medplum Offering for Elekta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Hosting Options Matrix</a:t>
            </a:r>
            <a:endParaRPr sz="1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Per Customer Pricing</a:t>
            </a:r>
            <a:endParaRPr sz="1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Substitutes comparison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Other Items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37" name="Google Shape;737;p104"/>
          <p:cNvSpPr txBox="1"/>
          <p:nvPr/>
        </p:nvSpPr>
        <p:spPr>
          <a:xfrm>
            <a:off x="3167325" y="205350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38" name="Google Shape;738;p104"/>
          <p:cNvSpPr txBox="1"/>
          <p:nvPr/>
        </p:nvSpPr>
        <p:spPr>
          <a:xfrm>
            <a:off x="3167325" y="2876225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39" name="Google Shape;739;p104"/>
          <p:cNvSpPr txBox="1"/>
          <p:nvPr/>
        </p:nvSpPr>
        <p:spPr>
          <a:xfrm>
            <a:off x="3167325" y="333645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740" name="Google Shape;740;p104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4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2">
  <p:cSld name="CUSTOM_2_1_1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05"/>
          <p:cNvSpPr txBox="1"/>
          <p:nvPr>
            <p:ph idx="12" type="sldNum"/>
          </p:nvPr>
        </p:nvSpPr>
        <p:spPr>
          <a:xfrm>
            <a:off x="8614049" y="4830300"/>
            <a:ext cx="309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1pPr>
            <a:lvl2pPr lvl="1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2pPr>
            <a:lvl3pPr lvl="2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3pPr>
            <a:lvl4pPr lvl="3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4pPr>
            <a:lvl5pPr lvl="4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5pPr>
            <a:lvl6pPr lvl="5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6pPr>
            <a:lvl7pPr lvl="6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7pPr>
            <a:lvl8pPr lvl="7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8pPr>
            <a:lvl9pPr lvl="8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4" name="Google Shape;744;p105"/>
          <p:cNvSpPr txBox="1"/>
          <p:nvPr>
            <p:ph type="title"/>
          </p:nvPr>
        </p:nvSpPr>
        <p:spPr>
          <a:xfrm>
            <a:off x="270000" y="270000"/>
            <a:ext cx="56604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Medium"/>
              <a:buNone/>
              <a:defRPr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5" name="Google Shape;745;p105"/>
          <p:cNvSpPr txBox="1"/>
          <p:nvPr>
            <p:ph idx="1" type="subTitle"/>
          </p:nvPr>
        </p:nvSpPr>
        <p:spPr>
          <a:xfrm>
            <a:off x="3188350" y="4835700"/>
            <a:ext cx="4041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oppins"/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05">
          <p15:clr>
            <a:srgbClr val="FA7B17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0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748" name="Google Shape;748;p10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49" name="Google Shape;749;p106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07"/>
          <p:cNvSpPr txBox="1"/>
          <p:nvPr>
            <p:ph type="title"/>
          </p:nvPr>
        </p:nvSpPr>
        <p:spPr>
          <a:xfrm>
            <a:off x="159300" y="140225"/>
            <a:ext cx="886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2" name="Google Shape;752;p107"/>
          <p:cNvSpPr txBox="1"/>
          <p:nvPr>
            <p:ph idx="1" type="body"/>
          </p:nvPr>
        </p:nvSpPr>
        <p:spPr>
          <a:xfrm>
            <a:off x="159300" y="812625"/>
            <a:ext cx="8862000" cy="37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3" name="Google Shape;753;p107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 1">
  <p:cSld name="TITLE_AND_BODY_1_1"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08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09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bg>
      <p:bgPr>
        <a:solidFill>
          <a:schemeClr val="accent6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11"/>
          <p:cNvSpPr txBox="1"/>
          <p:nvPr>
            <p:ph idx="12" type="sldNum"/>
          </p:nvPr>
        </p:nvSpPr>
        <p:spPr>
          <a:xfrm>
            <a:off x="8540388" y="4652050"/>
            <a:ext cx="333600" cy="138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algn="r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algn="r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algn="r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algn="r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algn="r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algn="r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algn="r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algn="r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2" name="Google Shape;762;p111"/>
          <p:cNvSpPr txBox="1"/>
          <p:nvPr/>
        </p:nvSpPr>
        <p:spPr>
          <a:xfrm>
            <a:off x="3167300" y="113675"/>
            <a:ext cx="42288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Build your own </a:t>
            </a:r>
            <a:b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EHR Integrating using Open Source</a:t>
            </a:r>
            <a:endParaRPr b="0" sz="3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763" name="Google Shape;763;p111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45975"/>
            <a:ext cx="1311652" cy="28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4" name="Google Shape;764;p111"/>
          <p:cNvGrpSpPr/>
          <p:nvPr/>
        </p:nvGrpSpPr>
        <p:grpSpPr>
          <a:xfrm>
            <a:off x="7933350" y="4501425"/>
            <a:ext cx="990300" cy="325525"/>
            <a:chOff x="3188350" y="2350300"/>
            <a:chExt cx="990300" cy="325525"/>
          </a:xfrm>
        </p:grpSpPr>
        <p:sp>
          <p:nvSpPr>
            <p:cNvPr id="765" name="Google Shape;765;p111"/>
            <p:cNvSpPr/>
            <p:nvPr/>
          </p:nvSpPr>
          <p:spPr>
            <a:xfrm>
              <a:off x="3188350" y="2392325"/>
              <a:ext cx="990300" cy="28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11"/>
            <p:cNvSpPr txBox="1"/>
            <p:nvPr/>
          </p:nvSpPr>
          <p:spPr>
            <a:xfrm>
              <a:off x="3188350" y="2350300"/>
              <a:ext cx="9903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Webinar</a:t>
              </a:r>
              <a:endPara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67" name="Google Shape;767;p111"/>
          <p:cNvSpPr txBox="1"/>
          <p:nvPr/>
        </p:nvSpPr>
        <p:spPr>
          <a:xfrm>
            <a:off x="3073400" y="4597650"/>
            <a:ext cx="2426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Sep 21, 2023–1pm PT, 4pm ET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 type="tx">
  <p:cSld name="TITLE_AND_BODY"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9" name="Google Shape;769;p112"/>
          <p:cNvGrpSpPr/>
          <p:nvPr/>
        </p:nvGrpSpPr>
        <p:grpSpPr>
          <a:xfrm>
            <a:off x="4792950" y="4395575"/>
            <a:ext cx="990300" cy="325525"/>
            <a:chOff x="4792950" y="4547975"/>
            <a:chExt cx="990300" cy="325525"/>
          </a:xfrm>
        </p:grpSpPr>
        <p:sp>
          <p:nvSpPr>
            <p:cNvPr id="770" name="Google Shape;770;p112"/>
            <p:cNvSpPr/>
            <p:nvPr/>
          </p:nvSpPr>
          <p:spPr>
            <a:xfrm>
              <a:off x="4792950" y="4590000"/>
              <a:ext cx="990300" cy="2835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12"/>
            <p:cNvSpPr txBox="1"/>
            <p:nvPr/>
          </p:nvSpPr>
          <p:spPr>
            <a:xfrm>
              <a:off x="4792950" y="4547975"/>
              <a:ext cx="9903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Webinar</a:t>
              </a:r>
              <a:endPara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72" name="Google Shape;772;p112"/>
          <p:cNvSpPr/>
          <p:nvPr/>
        </p:nvSpPr>
        <p:spPr>
          <a:xfrm>
            <a:off x="0" y="0"/>
            <a:ext cx="4568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12"/>
          <p:cNvSpPr txBox="1"/>
          <p:nvPr/>
        </p:nvSpPr>
        <p:spPr>
          <a:xfrm>
            <a:off x="220350" y="180000"/>
            <a:ext cx="3570300" cy="9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Build your own </a:t>
            </a:r>
            <a:b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EHR Integrating using Open Source</a:t>
            </a:r>
            <a:endParaRPr b="0" sz="2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774" name="Google Shape;774;p112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22455" y="4451315"/>
            <a:ext cx="990301" cy="214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112" title="img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96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112" title="img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24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112" title="img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52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112"/>
          <p:cNvSpPr txBox="1"/>
          <p:nvPr/>
        </p:nvSpPr>
        <p:spPr>
          <a:xfrm>
            <a:off x="46317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Alex Goel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CEO Technology Health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9" name="Google Shape;779;p112"/>
          <p:cNvSpPr txBox="1"/>
          <p:nvPr/>
        </p:nvSpPr>
        <p:spPr>
          <a:xfrm>
            <a:off x="61045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Reshma Khilnani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CEO Medplum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0" name="Google Shape;780;p112"/>
          <p:cNvSpPr txBox="1"/>
          <p:nvPr/>
        </p:nvSpPr>
        <p:spPr>
          <a:xfrm>
            <a:off x="75598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Johs Leben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CTO Topology Health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81" name="Google Shape;781;p112" title="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6668" y="4123525"/>
            <a:ext cx="594075" cy="59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chemeClr val="accent5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113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113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5" name="Google Shape;785;p113"/>
          <p:cNvSpPr txBox="1"/>
          <p:nvPr/>
        </p:nvSpPr>
        <p:spPr>
          <a:xfrm>
            <a:off x="3167325" y="1920150"/>
            <a:ext cx="36924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source/demos of these today!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86" name="Google Shape;786;p113"/>
          <p:cNvSpPr txBox="1"/>
          <p:nvPr/>
        </p:nvSpPr>
        <p:spPr>
          <a:xfrm>
            <a:off x="157025" y="1954275"/>
            <a:ext cx="858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bg>
      <p:bgPr>
        <a:solidFill>
          <a:schemeClr val="accent3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" name="Google Shape;788;p114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114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0" name="Google Shape;790;p114"/>
          <p:cNvSpPr txBox="1"/>
          <p:nvPr/>
        </p:nvSpPr>
        <p:spPr>
          <a:xfrm>
            <a:off x="3167325" y="1920150"/>
            <a:ext cx="36924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91" name="Google Shape;791;p114"/>
          <p:cNvSpPr txBox="1"/>
          <p:nvPr/>
        </p:nvSpPr>
        <p:spPr>
          <a:xfrm>
            <a:off x="157025" y="1954275"/>
            <a:ext cx="1446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_2_1">
    <p:bg>
      <p:bgPr>
        <a:solidFill>
          <a:schemeClr val="lt2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115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115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5" name="Google Shape;795;p115"/>
          <p:cNvSpPr txBox="1"/>
          <p:nvPr/>
        </p:nvSpPr>
        <p:spPr>
          <a:xfrm>
            <a:off x="3167325" y="2066775"/>
            <a:ext cx="3692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96" name="Google Shape;796;p115"/>
          <p:cNvSpPr txBox="1"/>
          <p:nvPr/>
        </p:nvSpPr>
        <p:spPr>
          <a:xfrm>
            <a:off x="157025" y="1954275"/>
            <a:ext cx="15369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">
  <p:cSld name="Blank_1_1_1">
    <p:bg>
      <p:bgPr>
        <a:solidFill>
          <a:schemeClr val="lt1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16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source/demos of these today!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99" name="Google Shape;799;p116"/>
          <p:cNvSpPr txBox="1"/>
          <p:nvPr/>
        </p:nvSpPr>
        <p:spPr>
          <a:xfrm>
            <a:off x="8163125" y="180000"/>
            <a:ext cx="8190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800" name="Google Shape;800;p116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116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">
  <p:cSld name="Blank_1_1_1_1">
    <p:bg>
      <p:bgPr>
        <a:solidFill>
          <a:schemeClr val="accent4"/>
        </a:solidFill>
      </p:bgPr>
    </p:bg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3" name="Google Shape;803;p117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117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5" name="Google Shape;805;p117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06" name="Google Shape;806;p117"/>
          <p:cNvSpPr txBox="1"/>
          <p:nvPr/>
        </p:nvSpPr>
        <p:spPr>
          <a:xfrm>
            <a:off x="7917450" y="180000"/>
            <a:ext cx="10062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">
  <p:cSld name="Blank_1_1_1_1_1">
    <p:bg>
      <p:bgPr>
        <a:solidFill>
          <a:schemeClr val="accent6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" name="Google Shape;808;p118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118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18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11" name="Google Shape;811;p118"/>
          <p:cNvSpPr txBox="1"/>
          <p:nvPr/>
        </p:nvSpPr>
        <p:spPr>
          <a:xfrm>
            <a:off x="7975975" y="180000"/>
            <a:ext cx="10062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">
  <p:cSld name="Blank_1_1_1_1_1_1">
    <p:bg>
      <p:bgPr>
        <a:solidFill>
          <a:schemeClr val="lt1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19"/>
          <p:cNvSpPr txBox="1"/>
          <p:nvPr/>
        </p:nvSpPr>
        <p:spPr>
          <a:xfrm>
            <a:off x="177275" y="1799150"/>
            <a:ext cx="72729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 demos of these today!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14" name="Google Shape;814;p119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815" name="Google Shape;815;p119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119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">
  <p:cSld name="Blank_1_1_1_1_1_1_1">
    <p:bg>
      <p:bgPr>
        <a:solidFill>
          <a:schemeClr val="accent4"/>
        </a:solidFill>
      </p:bgPr>
    </p:bg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20"/>
          <p:cNvSpPr txBox="1"/>
          <p:nvPr/>
        </p:nvSpPr>
        <p:spPr>
          <a:xfrm>
            <a:off x="177275" y="1799150"/>
            <a:ext cx="64596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19" name="Google Shape;819;p120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820" name="Google Shape;820;p120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120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">
  <p:cSld name="Blank_1_1_1_1_1_1_1_1">
    <p:bg>
      <p:bgPr>
        <a:solidFill>
          <a:schemeClr val="accent6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21"/>
          <p:cNvSpPr txBox="1"/>
          <p:nvPr/>
        </p:nvSpPr>
        <p:spPr>
          <a:xfrm>
            <a:off x="177275" y="1799150"/>
            <a:ext cx="645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24" name="Google Shape;824;p121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825" name="Google Shape;825;p121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121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 1">
  <p:cSld name="Blank_1_1_1_1_1_1_1_1_1">
    <p:bg>
      <p:bgPr>
        <a:solidFill>
          <a:schemeClr val="accent2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22"/>
          <p:cNvSpPr txBox="1"/>
          <p:nvPr/>
        </p:nvSpPr>
        <p:spPr>
          <a:xfrm>
            <a:off x="3188350" y="1714505"/>
            <a:ext cx="4230600" cy="17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Medplum offers FHIR infrastructure with integrated IDP, integration tools and flexible deployment options</a:t>
            </a: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9" name="Google Shape;829;p122" title="medplum logo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0000" y="1714509"/>
            <a:ext cx="818899" cy="176998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122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 1 1">
  <p:cSld name="Blank_1_1_1_1_1_1_1_1_1_1">
    <p:bg>
      <p:bgPr>
        <a:solidFill>
          <a:schemeClr val="dk2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123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123"/>
          <p:cNvSpPr txBox="1"/>
          <p:nvPr/>
        </p:nvSpPr>
        <p:spPr>
          <a:xfrm>
            <a:off x="3167325" y="220975"/>
            <a:ext cx="4282800" cy="17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Medplum offers FHIR infrastructure with integrated IDP, integration tools and flexible deployment options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4" name="Google Shape;834;p123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24"/>
          <p:cNvSpPr/>
          <p:nvPr/>
        </p:nvSpPr>
        <p:spPr>
          <a:xfrm>
            <a:off x="2332325" y="179788"/>
            <a:ext cx="6591300" cy="138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24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8" name="Google Shape;838;p124"/>
          <p:cNvSpPr txBox="1"/>
          <p:nvPr/>
        </p:nvSpPr>
        <p:spPr>
          <a:xfrm>
            <a:off x="220350" y="180000"/>
            <a:ext cx="1463100" cy="1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Scaling Tiers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9" name="Google Shape;839;p124"/>
          <p:cNvSpPr/>
          <p:nvPr/>
        </p:nvSpPr>
        <p:spPr>
          <a:xfrm>
            <a:off x="2332325" y="3114150"/>
            <a:ext cx="6591300" cy="138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0" name="Google Shape;840;p124"/>
          <p:cNvCxnSpPr/>
          <p:nvPr/>
        </p:nvCxnSpPr>
        <p:spPr>
          <a:xfrm>
            <a:off x="4187750" y="439438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124"/>
          <p:cNvCxnSpPr/>
          <p:nvPr/>
        </p:nvCxnSpPr>
        <p:spPr>
          <a:xfrm>
            <a:off x="6114275" y="439438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2" name="Google Shape;842;p124"/>
          <p:cNvSpPr txBox="1"/>
          <p:nvPr/>
        </p:nvSpPr>
        <p:spPr>
          <a:xfrm>
            <a:off x="6368375" y="508075"/>
            <a:ext cx="15666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+$4K</a:t>
            </a:r>
            <a:endParaRPr sz="4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3" name="Google Shape;843;p124"/>
          <p:cNvSpPr txBox="1"/>
          <p:nvPr/>
        </p:nvSpPr>
        <p:spPr>
          <a:xfrm>
            <a:off x="7884850" y="839375"/>
            <a:ext cx="8190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/ month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4" name="Google Shape;844;p124"/>
          <p:cNvSpPr txBox="1"/>
          <p:nvPr/>
        </p:nvSpPr>
        <p:spPr>
          <a:xfrm>
            <a:off x="4503188" y="702175"/>
            <a:ext cx="1425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2M-3M Patients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5" name="Google Shape;845;p124"/>
          <p:cNvSpPr txBox="1"/>
          <p:nvPr/>
        </p:nvSpPr>
        <p:spPr>
          <a:xfrm>
            <a:off x="2938550" y="709825"/>
            <a:ext cx="583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Tier 1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46" name="Google Shape;846;p124"/>
          <p:cNvGrpSpPr/>
          <p:nvPr/>
        </p:nvGrpSpPr>
        <p:grpSpPr>
          <a:xfrm>
            <a:off x="2332325" y="1646975"/>
            <a:ext cx="6591300" cy="1385100"/>
            <a:chOff x="2332325" y="1613813"/>
            <a:chExt cx="6591300" cy="1385100"/>
          </a:xfrm>
        </p:grpSpPr>
        <p:sp>
          <p:nvSpPr>
            <p:cNvPr id="847" name="Google Shape;847;p124"/>
            <p:cNvSpPr/>
            <p:nvPr/>
          </p:nvSpPr>
          <p:spPr>
            <a:xfrm>
              <a:off x="2332325" y="1613813"/>
              <a:ext cx="6591300" cy="13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48" name="Google Shape;848;p124"/>
            <p:cNvCxnSpPr/>
            <p:nvPr/>
          </p:nvCxnSpPr>
          <p:spPr>
            <a:xfrm>
              <a:off x="4187750" y="1873463"/>
              <a:ext cx="0" cy="86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9" name="Google Shape;849;p124"/>
            <p:cNvCxnSpPr/>
            <p:nvPr/>
          </p:nvCxnSpPr>
          <p:spPr>
            <a:xfrm>
              <a:off x="6114275" y="1873463"/>
              <a:ext cx="0" cy="86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0" name="Google Shape;850;p124"/>
            <p:cNvSpPr txBox="1"/>
            <p:nvPr/>
          </p:nvSpPr>
          <p:spPr>
            <a:xfrm>
              <a:off x="6386375" y="2037513"/>
              <a:ext cx="1530600" cy="5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4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+$8K</a:t>
              </a:r>
              <a:endParaRPr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1" name="Google Shape;851;p124"/>
            <p:cNvSpPr txBox="1"/>
            <p:nvPr/>
          </p:nvSpPr>
          <p:spPr>
            <a:xfrm>
              <a:off x="7884850" y="2347300"/>
              <a:ext cx="8190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/ month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2" name="Google Shape;852;p124"/>
            <p:cNvSpPr txBox="1"/>
            <p:nvPr/>
          </p:nvSpPr>
          <p:spPr>
            <a:xfrm>
              <a:off x="4503188" y="2231600"/>
              <a:ext cx="1425600" cy="19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3M-4M Patients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3" name="Google Shape;853;p124"/>
            <p:cNvSpPr txBox="1"/>
            <p:nvPr/>
          </p:nvSpPr>
          <p:spPr>
            <a:xfrm>
              <a:off x="2938550" y="2239250"/>
              <a:ext cx="5835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Tier 2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cxnSp>
        <p:nvCxnSpPr>
          <p:cNvPr id="854" name="Google Shape;854;p124"/>
          <p:cNvCxnSpPr/>
          <p:nvPr/>
        </p:nvCxnSpPr>
        <p:spPr>
          <a:xfrm>
            <a:off x="4187744" y="3373800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5" name="Google Shape;855;p124"/>
          <p:cNvCxnSpPr/>
          <p:nvPr/>
        </p:nvCxnSpPr>
        <p:spPr>
          <a:xfrm>
            <a:off x="6114269" y="3373800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6" name="Google Shape;856;p124"/>
          <p:cNvSpPr txBox="1"/>
          <p:nvPr/>
        </p:nvSpPr>
        <p:spPr>
          <a:xfrm>
            <a:off x="6368375" y="3524150"/>
            <a:ext cx="16242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+$12K</a:t>
            </a:r>
            <a:endParaRPr sz="4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7" name="Google Shape;857;p124"/>
          <p:cNvSpPr txBox="1"/>
          <p:nvPr/>
        </p:nvSpPr>
        <p:spPr>
          <a:xfrm>
            <a:off x="7958251" y="3851600"/>
            <a:ext cx="965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/ month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8" name="Google Shape;858;p124"/>
          <p:cNvSpPr txBox="1"/>
          <p:nvPr/>
        </p:nvSpPr>
        <p:spPr>
          <a:xfrm>
            <a:off x="4503207" y="3682700"/>
            <a:ext cx="1425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4M-5M Patients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9" name="Google Shape;859;p124"/>
          <p:cNvSpPr txBox="1"/>
          <p:nvPr/>
        </p:nvSpPr>
        <p:spPr>
          <a:xfrm>
            <a:off x="2938550" y="3706100"/>
            <a:ext cx="5835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Tier 3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60" name="Google Shape;860;p124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124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25"/>
          <p:cNvSpPr/>
          <p:nvPr/>
        </p:nvSpPr>
        <p:spPr>
          <a:xfrm>
            <a:off x="3167325" y="1985375"/>
            <a:ext cx="5756400" cy="100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25"/>
          <p:cNvSpPr/>
          <p:nvPr/>
        </p:nvSpPr>
        <p:spPr>
          <a:xfrm>
            <a:off x="3167325" y="823338"/>
            <a:ext cx="5756400" cy="100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25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6" name="Google Shape;866;p125"/>
          <p:cNvSpPr txBox="1"/>
          <p:nvPr/>
        </p:nvSpPr>
        <p:spPr>
          <a:xfrm>
            <a:off x="220350" y="180000"/>
            <a:ext cx="1463100" cy="1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 Notable Things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7" name="Google Shape;867;p125"/>
          <p:cNvSpPr/>
          <p:nvPr/>
        </p:nvSpPr>
        <p:spPr>
          <a:xfrm>
            <a:off x="3167325" y="3147425"/>
            <a:ext cx="5756400" cy="1002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25"/>
          <p:cNvSpPr txBox="1"/>
          <p:nvPr/>
        </p:nvSpPr>
        <p:spPr>
          <a:xfrm>
            <a:off x="3167325" y="180000"/>
            <a:ext cx="3515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 Notable Things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69" name="Google Shape;869;p125"/>
          <p:cNvSpPr txBox="1"/>
          <p:nvPr/>
        </p:nvSpPr>
        <p:spPr>
          <a:xfrm>
            <a:off x="3487175" y="1066250"/>
            <a:ext cx="517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70" name="Google Shape;870;p125"/>
          <p:cNvSpPr txBox="1"/>
          <p:nvPr/>
        </p:nvSpPr>
        <p:spPr>
          <a:xfrm>
            <a:off x="3417300" y="2196000"/>
            <a:ext cx="733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71" name="Google Shape;871;p125"/>
          <p:cNvSpPr txBox="1"/>
          <p:nvPr/>
        </p:nvSpPr>
        <p:spPr>
          <a:xfrm>
            <a:off x="3417300" y="3369425"/>
            <a:ext cx="733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72" name="Google Shape;872;p125"/>
          <p:cNvSpPr txBox="1"/>
          <p:nvPr/>
        </p:nvSpPr>
        <p:spPr>
          <a:xfrm>
            <a:off x="6114275" y="1249250"/>
            <a:ext cx="2767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Server-to-server connections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3" name="Google Shape;873;p125"/>
          <p:cNvSpPr txBox="1"/>
          <p:nvPr/>
        </p:nvSpPr>
        <p:spPr>
          <a:xfrm>
            <a:off x="6114275" y="2308050"/>
            <a:ext cx="2767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Medplum Bot - authenticate via JWT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4" name="Google Shape;874;p125"/>
          <p:cNvSpPr txBox="1"/>
          <p:nvPr/>
        </p:nvSpPr>
        <p:spPr>
          <a:xfrm>
            <a:off x="6114275" y="3481475"/>
            <a:ext cx="2767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Standard-ish FHIR API, similar to Medplum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5" name="Google Shape;875;p125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125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"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26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9" name="Google Shape;879;p126"/>
          <p:cNvSpPr txBox="1"/>
          <p:nvPr/>
        </p:nvSpPr>
        <p:spPr>
          <a:xfrm>
            <a:off x="3134475" y="180000"/>
            <a:ext cx="1561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Demos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80" name="Google Shape;880;p126"/>
          <p:cNvSpPr txBox="1"/>
          <p:nvPr/>
        </p:nvSpPr>
        <p:spPr>
          <a:xfrm>
            <a:off x="220350" y="180000"/>
            <a:ext cx="14631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1" name="Google Shape;881;p126"/>
          <p:cNvSpPr/>
          <p:nvPr/>
        </p:nvSpPr>
        <p:spPr>
          <a:xfrm>
            <a:off x="220350" y="1435200"/>
            <a:ext cx="2809500" cy="2279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126"/>
          <p:cNvSpPr/>
          <p:nvPr/>
        </p:nvSpPr>
        <p:spPr>
          <a:xfrm>
            <a:off x="3160200" y="1435200"/>
            <a:ext cx="2809500" cy="227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26"/>
          <p:cNvSpPr/>
          <p:nvPr/>
        </p:nvSpPr>
        <p:spPr>
          <a:xfrm>
            <a:off x="6114275" y="1435200"/>
            <a:ext cx="2809500" cy="2279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126"/>
          <p:cNvSpPr txBox="1"/>
          <p:nvPr/>
        </p:nvSpPr>
        <p:spPr>
          <a:xfrm>
            <a:off x="445650" y="1637400"/>
            <a:ext cx="5175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5" name="Google Shape;885;p126"/>
          <p:cNvSpPr txBox="1"/>
          <p:nvPr/>
        </p:nvSpPr>
        <p:spPr>
          <a:xfrm>
            <a:off x="3385500" y="1637400"/>
            <a:ext cx="7335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6" name="Google Shape;886;p126"/>
          <p:cNvSpPr txBox="1"/>
          <p:nvPr/>
        </p:nvSpPr>
        <p:spPr>
          <a:xfrm>
            <a:off x="6339575" y="1637400"/>
            <a:ext cx="5988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7" name="Google Shape;887;p126"/>
          <p:cNvSpPr txBox="1"/>
          <p:nvPr/>
        </p:nvSpPr>
        <p:spPr>
          <a:xfrm>
            <a:off x="445650" y="2849525"/>
            <a:ext cx="23589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Super simple: read a single patient from Epic (backend system)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88" name="Google Shape;888;p126"/>
          <p:cNvCxnSpPr/>
          <p:nvPr/>
        </p:nvCxnSpPr>
        <p:spPr>
          <a:xfrm>
            <a:off x="445650" y="2695275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126"/>
          <p:cNvCxnSpPr/>
          <p:nvPr/>
        </p:nvCxnSpPr>
        <p:spPr>
          <a:xfrm>
            <a:off x="3385500" y="2695275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126"/>
          <p:cNvCxnSpPr/>
          <p:nvPr/>
        </p:nvCxnSpPr>
        <p:spPr>
          <a:xfrm>
            <a:off x="6339575" y="2695850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p126"/>
          <p:cNvSpPr txBox="1"/>
          <p:nvPr/>
        </p:nvSpPr>
        <p:spPr>
          <a:xfrm>
            <a:off x="3385500" y="2849525"/>
            <a:ext cx="23589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HL7: Process ADT Feed message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2" name="Google Shape;892;p126"/>
          <p:cNvSpPr txBox="1"/>
          <p:nvPr/>
        </p:nvSpPr>
        <p:spPr>
          <a:xfrm>
            <a:off x="6339575" y="2849525"/>
            <a:ext cx="23589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Patient FHIR App: Patient auth and import personal health data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93" name="Google Shape;893;p126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126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1_1_1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27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7" name="Google Shape;897;p127"/>
          <p:cNvSpPr txBox="1"/>
          <p:nvPr/>
        </p:nvSpPr>
        <p:spPr>
          <a:xfrm>
            <a:off x="548000" y="1759375"/>
            <a:ext cx="23589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Super Simple 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8" name="Google Shape;898;p127"/>
          <p:cNvSpPr txBox="1"/>
          <p:nvPr/>
        </p:nvSpPr>
        <p:spPr>
          <a:xfrm>
            <a:off x="548000" y="2523374"/>
            <a:ext cx="23589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Read a single patient from Epic (backend system)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9" name="Google Shape;899;p127"/>
          <p:cNvSpPr txBox="1"/>
          <p:nvPr/>
        </p:nvSpPr>
        <p:spPr>
          <a:xfrm>
            <a:off x="3618625" y="2523375"/>
            <a:ext cx="2358900" cy="1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Process ADT Feed message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0" name="Google Shape;900;p127"/>
          <p:cNvSpPr txBox="1"/>
          <p:nvPr/>
        </p:nvSpPr>
        <p:spPr>
          <a:xfrm>
            <a:off x="6460650" y="2523375"/>
            <a:ext cx="1934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Patient auth and import personal health data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1" name="Google Shape;901;p127"/>
          <p:cNvSpPr txBox="1"/>
          <p:nvPr/>
        </p:nvSpPr>
        <p:spPr>
          <a:xfrm>
            <a:off x="191150" y="180000"/>
            <a:ext cx="1463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Demos</a:t>
            </a:r>
            <a:endParaRPr sz="24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02" name="Google Shape;902;p127"/>
          <p:cNvSpPr txBox="1"/>
          <p:nvPr/>
        </p:nvSpPr>
        <p:spPr>
          <a:xfrm>
            <a:off x="3618625" y="1759375"/>
            <a:ext cx="23589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HL7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3" name="Google Shape;903;p127"/>
          <p:cNvSpPr txBox="1"/>
          <p:nvPr/>
        </p:nvSpPr>
        <p:spPr>
          <a:xfrm>
            <a:off x="6460650" y="1759375"/>
            <a:ext cx="2406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Patient FHIR App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4" name="Google Shape;904;p127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127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 1">
  <p:cSld name="CUSTOM_1_1_1_1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28"/>
          <p:cNvSpPr/>
          <p:nvPr/>
        </p:nvSpPr>
        <p:spPr>
          <a:xfrm>
            <a:off x="3029725" y="-17250"/>
            <a:ext cx="61038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28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9" name="Google Shape;909;p128"/>
          <p:cNvSpPr txBox="1"/>
          <p:nvPr/>
        </p:nvSpPr>
        <p:spPr>
          <a:xfrm>
            <a:off x="220350" y="180000"/>
            <a:ext cx="9813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0" name="Google Shape;910;p128"/>
          <p:cNvSpPr txBox="1"/>
          <p:nvPr/>
        </p:nvSpPr>
        <p:spPr>
          <a:xfrm>
            <a:off x="3167325" y="180000"/>
            <a:ext cx="19443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11" name="Google Shape;911;p128"/>
          <p:cNvSpPr txBox="1"/>
          <p:nvPr/>
        </p:nvSpPr>
        <p:spPr>
          <a:xfrm>
            <a:off x="3167325" y="159555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12" name="Google Shape;912;p128"/>
          <p:cNvSpPr txBox="1"/>
          <p:nvPr/>
        </p:nvSpPr>
        <p:spPr>
          <a:xfrm>
            <a:off x="3477650" y="1595550"/>
            <a:ext cx="27423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Requirements Summary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Medplum Offering for Elekta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Hosting Options Matrix</a:t>
            </a:r>
            <a:endParaRPr sz="1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Per Customer Pricing</a:t>
            </a:r>
            <a:endParaRPr sz="1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Substitutes comparison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Other Items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13" name="Google Shape;913;p128"/>
          <p:cNvSpPr txBox="1"/>
          <p:nvPr/>
        </p:nvSpPr>
        <p:spPr>
          <a:xfrm>
            <a:off x="3167325" y="205350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14" name="Google Shape;914;p128"/>
          <p:cNvSpPr txBox="1"/>
          <p:nvPr/>
        </p:nvSpPr>
        <p:spPr>
          <a:xfrm>
            <a:off x="3167325" y="2876225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15" name="Google Shape;915;p128"/>
          <p:cNvSpPr txBox="1"/>
          <p:nvPr/>
        </p:nvSpPr>
        <p:spPr>
          <a:xfrm>
            <a:off x="3167325" y="333645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16" name="Google Shape;916;p128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128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2">
  <p:cSld name="CUSTOM_2_1_1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29"/>
          <p:cNvSpPr txBox="1"/>
          <p:nvPr>
            <p:ph idx="12" type="sldNum"/>
          </p:nvPr>
        </p:nvSpPr>
        <p:spPr>
          <a:xfrm>
            <a:off x="8614049" y="4830300"/>
            <a:ext cx="309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1pPr>
            <a:lvl2pPr lvl="1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2pPr>
            <a:lvl3pPr lvl="2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3pPr>
            <a:lvl4pPr lvl="3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4pPr>
            <a:lvl5pPr lvl="4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5pPr>
            <a:lvl6pPr lvl="5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6pPr>
            <a:lvl7pPr lvl="6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7pPr>
            <a:lvl8pPr lvl="7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8pPr>
            <a:lvl9pPr lvl="8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0" name="Google Shape;920;p129"/>
          <p:cNvSpPr txBox="1"/>
          <p:nvPr>
            <p:ph type="title"/>
          </p:nvPr>
        </p:nvSpPr>
        <p:spPr>
          <a:xfrm>
            <a:off x="270000" y="270000"/>
            <a:ext cx="56604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Medium"/>
              <a:buNone/>
              <a:defRPr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1" name="Google Shape;921;p129"/>
          <p:cNvSpPr txBox="1"/>
          <p:nvPr>
            <p:ph idx="1" type="subTitle"/>
          </p:nvPr>
        </p:nvSpPr>
        <p:spPr>
          <a:xfrm>
            <a:off x="3188350" y="4835700"/>
            <a:ext cx="4041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oppins"/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05">
          <p15:clr>
            <a:srgbClr val="FA7B17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924" name="Google Shape;924;p1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25" name="Google Shape;925;p130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131"/>
          <p:cNvSpPr txBox="1"/>
          <p:nvPr>
            <p:ph type="title"/>
          </p:nvPr>
        </p:nvSpPr>
        <p:spPr>
          <a:xfrm>
            <a:off x="159300" y="140225"/>
            <a:ext cx="886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8" name="Google Shape;928;p131"/>
          <p:cNvSpPr txBox="1"/>
          <p:nvPr>
            <p:ph idx="1" type="body"/>
          </p:nvPr>
        </p:nvSpPr>
        <p:spPr>
          <a:xfrm>
            <a:off x="159300" y="812625"/>
            <a:ext cx="8862000" cy="37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9" name="Google Shape;929;p131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 1">
  <p:cSld name="TITLE_AND_BODY_1_1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32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33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24" Type="http://schemas.openxmlformats.org/officeDocument/2006/relationships/theme" Target="../theme/theme6.xml"/><Relationship Id="rId12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57.xml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25" Type="http://schemas.openxmlformats.org/officeDocument/2006/relationships/theme" Target="../theme/theme5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2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8.xml"/><Relationship Id="rId22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79.xml"/><Relationship Id="rId24" Type="http://schemas.openxmlformats.org/officeDocument/2006/relationships/theme" Target="../theme/theme7.xml"/><Relationship Id="rId23" Type="http://schemas.openxmlformats.org/officeDocument/2006/relationships/slideLayout" Target="../slideLayouts/slideLayout81.xml"/><Relationship Id="rId1" Type="http://schemas.openxmlformats.org/officeDocument/2006/relationships/slideLayout" Target="../slideLayouts/slideLayout59.xml"/><Relationship Id="rId2" Type="http://schemas.openxmlformats.org/officeDocument/2006/relationships/slideLayout" Target="../slideLayouts/slideLayout60.xml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5.xml"/><Relationship Id="rId16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76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01.xml"/><Relationship Id="rId22" Type="http://schemas.openxmlformats.org/officeDocument/2006/relationships/slideLayout" Target="../slideLayouts/slideLayout103.xml"/><Relationship Id="rId21" Type="http://schemas.openxmlformats.org/officeDocument/2006/relationships/slideLayout" Target="../slideLayouts/slideLayout102.xml"/><Relationship Id="rId24" Type="http://schemas.openxmlformats.org/officeDocument/2006/relationships/theme" Target="../theme/theme3.xml"/><Relationship Id="rId23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1.xml"/><Relationship Id="rId13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97.xml"/><Relationship Id="rId19" Type="http://schemas.openxmlformats.org/officeDocument/2006/relationships/slideLayout" Target="../slideLayouts/slideLayout100.xml"/><Relationship Id="rId18" Type="http://schemas.openxmlformats.org/officeDocument/2006/relationships/slideLayout" Target="../slideLayouts/slideLayout99.xml"/></Relationships>
</file>

<file path=ppt/slideMasters/_rels/slideMaster6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24.xml"/><Relationship Id="rId22" Type="http://schemas.openxmlformats.org/officeDocument/2006/relationships/slideLayout" Target="../slideLayouts/slideLayout126.xml"/><Relationship Id="rId21" Type="http://schemas.openxmlformats.org/officeDocument/2006/relationships/slideLayout" Target="../slideLayouts/slideLayout125.xml"/><Relationship Id="rId24" Type="http://schemas.openxmlformats.org/officeDocument/2006/relationships/theme" Target="../theme/theme2.xml"/><Relationship Id="rId23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0.xml"/><Relationship Id="rId19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39">
          <p15:clr>
            <a:srgbClr val="EA4335"/>
          </p15:clr>
        </p15:guide>
        <p15:guide id="2" pos="5621">
          <p15:clr>
            <a:srgbClr val="EA4335"/>
          </p15:clr>
        </p15:guide>
        <p15:guide id="3" orient="horz" pos="113">
          <p15:clr>
            <a:srgbClr val="EA4335"/>
          </p15:clr>
        </p15:guide>
        <p15:guide id="4" orient="horz" pos="3127">
          <p15:clr>
            <a:srgbClr val="EA4335"/>
          </p15:clr>
        </p15:guide>
        <p15:guide id="5" pos="980">
          <p15:clr>
            <a:srgbClr val="E46962"/>
          </p15:clr>
        </p15:guide>
        <p15:guide id="6" pos="1067">
          <p15:clr>
            <a:srgbClr val="E46962"/>
          </p15:clr>
        </p15:guide>
        <p15:guide id="7" pos="1908">
          <p15:clr>
            <a:srgbClr val="E46962"/>
          </p15:clr>
        </p15:guide>
        <p15:guide id="8" pos="1995">
          <p15:clr>
            <a:srgbClr val="E46962"/>
          </p15:clr>
        </p15:guide>
        <p15:guide id="9" pos="2837">
          <p15:clr>
            <a:srgbClr val="E46962"/>
          </p15:clr>
        </p15:guide>
        <p15:guide id="10" pos="2923">
          <p15:clr>
            <a:srgbClr val="E46962"/>
          </p15:clr>
        </p15:guide>
        <p15:guide id="11" pos="3765">
          <p15:clr>
            <a:srgbClr val="E46962"/>
          </p15:clr>
        </p15:guide>
        <p15:guide id="12" pos="3852">
          <p15:clr>
            <a:srgbClr val="E46962"/>
          </p15:clr>
        </p15:guide>
        <p15:guide id="13" pos="4693">
          <p15:clr>
            <a:srgbClr val="E46962"/>
          </p15:clr>
        </p15:guide>
        <p15:guide id="14" pos="4780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5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39">
          <p15:clr>
            <a:srgbClr val="EA4335"/>
          </p15:clr>
        </p15:guide>
        <p15:guide id="2" pos="5621">
          <p15:clr>
            <a:srgbClr val="EA4335"/>
          </p15:clr>
        </p15:guide>
        <p15:guide id="3" orient="horz" pos="113">
          <p15:clr>
            <a:srgbClr val="EA4335"/>
          </p15:clr>
        </p15:guide>
        <p15:guide id="4" orient="horz" pos="3127">
          <p15:clr>
            <a:srgbClr val="EA4335"/>
          </p15:clr>
        </p15:guide>
        <p15:guide id="5" pos="980">
          <p15:clr>
            <a:srgbClr val="E46962"/>
          </p15:clr>
        </p15:guide>
        <p15:guide id="6" pos="1067">
          <p15:clr>
            <a:srgbClr val="E46962"/>
          </p15:clr>
        </p15:guide>
        <p15:guide id="7" pos="1908">
          <p15:clr>
            <a:srgbClr val="E46962"/>
          </p15:clr>
        </p15:guide>
        <p15:guide id="8" pos="1995">
          <p15:clr>
            <a:srgbClr val="E46962"/>
          </p15:clr>
        </p15:guide>
        <p15:guide id="9" pos="2837">
          <p15:clr>
            <a:srgbClr val="E46962"/>
          </p15:clr>
        </p15:guide>
        <p15:guide id="10" pos="2923">
          <p15:clr>
            <a:srgbClr val="E46962"/>
          </p15:clr>
        </p15:guide>
        <p15:guide id="11" pos="3765">
          <p15:clr>
            <a:srgbClr val="E46962"/>
          </p15:clr>
        </p15:guide>
        <p15:guide id="12" pos="3852">
          <p15:clr>
            <a:srgbClr val="E46962"/>
          </p15:clr>
        </p15:guide>
        <p15:guide id="13" pos="4693">
          <p15:clr>
            <a:srgbClr val="E46962"/>
          </p15:clr>
        </p15:guide>
        <p15:guide id="14" pos="4780">
          <p15:clr>
            <a:srgbClr val="E46962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2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39">
          <p15:clr>
            <a:srgbClr val="EA4335"/>
          </p15:clr>
        </p15:guide>
        <p15:guide id="2" pos="5621">
          <p15:clr>
            <a:srgbClr val="EA4335"/>
          </p15:clr>
        </p15:guide>
        <p15:guide id="3" orient="horz" pos="113">
          <p15:clr>
            <a:srgbClr val="EA4335"/>
          </p15:clr>
        </p15:guide>
        <p15:guide id="4" orient="horz" pos="3127">
          <p15:clr>
            <a:srgbClr val="EA4335"/>
          </p15:clr>
        </p15:guide>
        <p15:guide id="5" pos="980">
          <p15:clr>
            <a:srgbClr val="E46962"/>
          </p15:clr>
        </p15:guide>
        <p15:guide id="6" pos="1067">
          <p15:clr>
            <a:srgbClr val="E46962"/>
          </p15:clr>
        </p15:guide>
        <p15:guide id="7" pos="1908">
          <p15:clr>
            <a:srgbClr val="E46962"/>
          </p15:clr>
        </p15:guide>
        <p15:guide id="8" pos="1995">
          <p15:clr>
            <a:srgbClr val="E46962"/>
          </p15:clr>
        </p15:guide>
        <p15:guide id="9" pos="2837">
          <p15:clr>
            <a:srgbClr val="E46962"/>
          </p15:clr>
        </p15:guide>
        <p15:guide id="10" pos="2923">
          <p15:clr>
            <a:srgbClr val="E46962"/>
          </p15:clr>
        </p15:guide>
        <p15:guide id="11" pos="3765">
          <p15:clr>
            <a:srgbClr val="E46962"/>
          </p15:clr>
        </p15:guide>
        <p15:guide id="12" pos="3852">
          <p15:clr>
            <a:srgbClr val="E46962"/>
          </p15:clr>
        </p15:guide>
        <p15:guide id="13" pos="4693">
          <p15:clr>
            <a:srgbClr val="E46962"/>
          </p15:clr>
        </p15:guide>
        <p15:guide id="14" pos="4780">
          <p15:clr>
            <a:srgbClr val="E46962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86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50" r:id="rId22"/>
    <p:sldLayoutId id="214748375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39">
          <p15:clr>
            <a:srgbClr val="EA4335"/>
          </p15:clr>
        </p15:guide>
        <p15:guide id="2" pos="5621">
          <p15:clr>
            <a:srgbClr val="EA4335"/>
          </p15:clr>
        </p15:guide>
        <p15:guide id="3" orient="horz" pos="113">
          <p15:clr>
            <a:srgbClr val="EA4335"/>
          </p15:clr>
        </p15:guide>
        <p15:guide id="4" orient="horz" pos="3127">
          <p15:clr>
            <a:srgbClr val="EA4335"/>
          </p15:clr>
        </p15:guide>
        <p15:guide id="5" pos="980">
          <p15:clr>
            <a:srgbClr val="E46962"/>
          </p15:clr>
        </p15:guide>
        <p15:guide id="6" pos="1067">
          <p15:clr>
            <a:srgbClr val="E46962"/>
          </p15:clr>
        </p15:guide>
        <p15:guide id="7" pos="1908">
          <p15:clr>
            <a:srgbClr val="E46962"/>
          </p15:clr>
        </p15:guide>
        <p15:guide id="8" pos="1995">
          <p15:clr>
            <a:srgbClr val="E46962"/>
          </p15:clr>
        </p15:guide>
        <p15:guide id="9" pos="2837">
          <p15:clr>
            <a:srgbClr val="E46962"/>
          </p15:clr>
        </p15:guide>
        <p15:guide id="10" pos="2923">
          <p15:clr>
            <a:srgbClr val="E46962"/>
          </p15:clr>
        </p15:guide>
        <p15:guide id="11" pos="3765">
          <p15:clr>
            <a:srgbClr val="E46962"/>
          </p15:clr>
        </p15:guide>
        <p15:guide id="12" pos="3852">
          <p15:clr>
            <a:srgbClr val="E46962"/>
          </p15:clr>
        </p15:guide>
        <p15:guide id="13" pos="4693">
          <p15:clr>
            <a:srgbClr val="E46962"/>
          </p15:clr>
        </p15:guide>
        <p15:guide id="14" pos="4780">
          <p15:clr>
            <a:srgbClr val="E46962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10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  <p:sldLayoutId id="2147483771" r:id="rId20"/>
    <p:sldLayoutId id="2147483772" r:id="rId21"/>
    <p:sldLayoutId id="2147483773" r:id="rId22"/>
    <p:sldLayoutId id="2147483774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39">
          <p15:clr>
            <a:srgbClr val="EA4335"/>
          </p15:clr>
        </p15:guide>
        <p15:guide id="2" pos="5621">
          <p15:clr>
            <a:srgbClr val="EA4335"/>
          </p15:clr>
        </p15:guide>
        <p15:guide id="3" orient="horz" pos="113">
          <p15:clr>
            <a:srgbClr val="EA4335"/>
          </p15:clr>
        </p15:guide>
        <p15:guide id="4" orient="horz" pos="3127">
          <p15:clr>
            <a:srgbClr val="EA4335"/>
          </p15:clr>
        </p15:guide>
        <p15:guide id="5" pos="980">
          <p15:clr>
            <a:srgbClr val="E46962"/>
          </p15:clr>
        </p15:guide>
        <p15:guide id="6" pos="1067">
          <p15:clr>
            <a:srgbClr val="E46962"/>
          </p15:clr>
        </p15:guide>
        <p15:guide id="7" pos="1908">
          <p15:clr>
            <a:srgbClr val="E46962"/>
          </p15:clr>
        </p15:guide>
        <p15:guide id="8" pos="1995">
          <p15:clr>
            <a:srgbClr val="E46962"/>
          </p15:clr>
        </p15:guide>
        <p15:guide id="9" pos="2837">
          <p15:clr>
            <a:srgbClr val="E46962"/>
          </p15:clr>
        </p15:guide>
        <p15:guide id="10" pos="2923">
          <p15:clr>
            <a:srgbClr val="E46962"/>
          </p15:clr>
        </p15:guide>
        <p15:guide id="11" pos="3765">
          <p15:clr>
            <a:srgbClr val="E46962"/>
          </p15:clr>
        </p15:guide>
        <p15:guide id="12" pos="3852">
          <p15:clr>
            <a:srgbClr val="E46962"/>
          </p15:clr>
        </p15:guide>
        <p15:guide id="13" pos="4693">
          <p15:clr>
            <a:srgbClr val="E46962"/>
          </p15:clr>
        </p15:guide>
        <p15:guide id="14" pos="47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hyperlink" Target="https://www.medplum.com/docs/api/fhir/resources/patient" TargetMode="External"/><Relationship Id="rId9" Type="http://schemas.openxmlformats.org/officeDocument/2006/relationships/hyperlink" Target="https://www.medplum.com/docs/api/fhir/resources/encounter" TargetMode="External"/><Relationship Id="rId5" Type="http://schemas.openxmlformats.org/officeDocument/2006/relationships/hyperlink" Target="https://www.medplum.com/docs/api/fhir/resources/medication" TargetMode="External"/><Relationship Id="rId6" Type="http://schemas.openxmlformats.org/officeDocument/2006/relationships/hyperlink" Target="https://www.medplum.com/docs/api/fhir/resources/device" TargetMode="External"/><Relationship Id="rId7" Type="http://schemas.openxmlformats.org/officeDocument/2006/relationships/hyperlink" Target="https://www.medplum.com/docs/api/fhir/resources/procedure" TargetMode="External"/><Relationship Id="rId8" Type="http://schemas.openxmlformats.org/officeDocument/2006/relationships/hyperlink" Target="https://www.medplum.com/docs/api/fhir/resources/careplan" TargetMode="External"/><Relationship Id="rId11" Type="http://schemas.openxmlformats.org/officeDocument/2006/relationships/hyperlink" Target="https://www.medplum.com/docs/fhir-basics#storing-data-resources" TargetMode="External"/><Relationship Id="rId10" Type="http://schemas.openxmlformats.org/officeDocument/2006/relationships/hyperlink" Target="https://www.medplum.com/docs/api/fhir/medplu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134" title="medplum logo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735198"/>
            <a:ext cx="1311638" cy="2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134"/>
          <p:cNvSpPr txBox="1"/>
          <p:nvPr/>
        </p:nvSpPr>
        <p:spPr>
          <a:xfrm>
            <a:off x="222300" y="165550"/>
            <a:ext cx="87435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Intake and Questionnaires</a:t>
            </a:r>
            <a:br>
              <a:rPr lang="en" sz="4800">
                <a:solidFill>
                  <a:schemeClr val="accent3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" sz="4800">
                <a:solidFill>
                  <a:schemeClr val="accent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Openloop | Medplum</a:t>
            </a:r>
            <a:endParaRPr sz="4800">
              <a:solidFill>
                <a:schemeClr val="accent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2026.01.16</a:t>
            </a:r>
            <a:endParaRPr sz="2400">
              <a:solidFill>
                <a:schemeClr val="accent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45" name="Google Shape;945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35"/>
          <p:cNvSpPr/>
          <p:nvPr/>
        </p:nvSpPr>
        <p:spPr>
          <a:xfrm>
            <a:off x="3979664" y="497607"/>
            <a:ext cx="26226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100"/>
              <a:buFont typeface="Spline Sans"/>
              <a:buNone/>
            </a:pPr>
            <a:r>
              <a:rPr b="1" i="0" lang="en" sz="21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Why FHIR?</a:t>
            </a:r>
            <a:endParaRPr b="0" i="0" sz="2100" u="none" cap="none" strike="noStrike"/>
          </a:p>
        </p:txBody>
      </p:sp>
      <p:sp>
        <p:nvSpPr>
          <p:cNvPr id="947" name="Google Shape;947;p135"/>
          <p:cNvSpPr/>
          <p:nvPr/>
        </p:nvSpPr>
        <p:spPr>
          <a:xfrm>
            <a:off x="3979664" y="958156"/>
            <a:ext cx="46137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379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00"/>
              <a:buFont typeface="Barlow"/>
              <a:buNone/>
            </a:pPr>
            <a:r>
              <a:rPr b="0" i="0" lang="en" sz="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Fast Healthcare Interoperability Resources (FHIR) has emerged as the gold standard for healthcare data exchange. Here's why adopting FHIR matters for your organization:</a:t>
            </a:r>
            <a:endParaRPr b="0" i="0" sz="900" u="none" cap="none" strike="noStrike"/>
          </a:p>
        </p:txBody>
      </p:sp>
      <p:sp>
        <p:nvSpPr>
          <p:cNvPr id="948" name="Google Shape;948;p135"/>
          <p:cNvSpPr/>
          <p:nvPr/>
        </p:nvSpPr>
        <p:spPr>
          <a:xfrm>
            <a:off x="3979664" y="1388120"/>
            <a:ext cx="2262600" cy="1915200"/>
          </a:xfrm>
          <a:prstGeom prst="roundRect">
            <a:avLst>
              <a:gd fmla="val 9244" name="adj"/>
            </a:avLst>
          </a:prstGeom>
          <a:solidFill>
            <a:srgbClr val="0A081B"/>
          </a:solidFill>
          <a:ln cap="flat" cmpd="sng" w="1427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135"/>
          <p:cNvSpPr/>
          <p:nvPr/>
        </p:nvSpPr>
        <p:spPr>
          <a:xfrm>
            <a:off x="4111898" y="1520354"/>
            <a:ext cx="354000" cy="354000"/>
          </a:xfrm>
          <a:prstGeom prst="roundRect">
            <a:avLst>
              <a:gd fmla="val 16143023" name="adj"/>
            </a:avLst>
          </a:prstGeom>
          <a:solidFill>
            <a:srgbClr val="16FFBB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0" name="Google Shape;950;p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9231" y="1617613"/>
            <a:ext cx="159321" cy="159321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135"/>
          <p:cNvSpPr/>
          <p:nvPr/>
        </p:nvSpPr>
        <p:spPr>
          <a:xfrm>
            <a:off x="4111898" y="1962820"/>
            <a:ext cx="13113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Spline Sans"/>
              <a:buNone/>
            </a:pPr>
            <a:r>
              <a:rPr b="1" i="0" lang="en" sz="10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Interoperability</a:t>
            </a:r>
            <a:endParaRPr b="0" i="0" sz="1000" u="none" cap="none" strike="noStrike"/>
          </a:p>
        </p:txBody>
      </p:sp>
      <p:sp>
        <p:nvSpPr>
          <p:cNvPr id="952" name="Google Shape;952;p135"/>
          <p:cNvSpPr/>
          <p:nvPr/>
        </p:nvSpPr>
        <p:spPr>
          <a:xfrm>
            <a:off x="4111898" y="2179737"/>
            <a:ext cx="19980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379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00"/>
              <a:buFont typeface="Barlow"/>
              <a:buNone/>
            </a:pPr>
            <a:r>
              <a:rPr b="0" i="0" lang="en" sz="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Healthcare partners are increasingly exposing their data via FHIR APIs. Storing your data according to FHIR specifications smooths the path to interoperating with multiple partners and healthcare systems seamlessly.</a:t>
            </a:r>
            <a:endParaRPr b="0" i="0" sz="900" u="none" cap="none" strike="noStrike"/>
          </a:p>
        </p:txBody>
      </p:sp>
      <p:sp>
        <p:nvSpPr>
          <p:cNvPr id="953" name="Google Shape;953;p135"/>
          <p:cNvSpPr/>
          <p:nvPr/>
        </p:nvSpPr>
        <p:spPr>
          <a:xfrm>
            <a:off x="6330702" y="1388120"/>
            <a:ext cx="2262600" cy="1915200"/>
          </a:xfrm>
          <a:prstGeom prst="roundRect">
            <a:avLst>
              <a:gd fmla="val 9244" name="adj"/>
            </a:avLst>
          </a:prstGeom>
          <a:solidFill>
            <a:srgbClr val="0A081B"/>
          </a:solidFill>
          <a:ln cap="flat" cmpd="sng" w="14275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135"/>
          <p:cNvSpPr/>
          <p:nvPr/>
        </p:nvSpPr>
        <p:spPr>
          <a:xfrm>
            <a:off x="6462936" y="1520354"/>
            <a:ext cx="354000" cy="354000"/>
          </a:xfrm>
          <a:prstGeom prst="roundRect">
            <a:avLst>
              <a:gd fmla="val 16143023" name="adj"/>
            </a:avLst>
          </a:prstGeom>
          <a:solidFill>
            <a:srgbClr val="29DDD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5" name="Google Shape;955;p1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0269" y="1617613"/>
            <a:ext cx="159321" cy="159321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135"/>
          <p:cNvSpPr/>
          <p:nvPr/>
        </p:nvSpPr>
        <p:spPr>
          <a:xfrm>
            <a:off x="6462936" y="1962820"/>
            <a:ext cx="13113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Spline Sans"/>
              <a:buNone/>
            </a:pPr>
            <a:r>
              <a:rPr b="1" i="0" lang="en" sz="10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Future Proof</a:t>
            </a:r>
            <a:endParaRPr b="0" i="0" sz="1000" u="none" cap="none" strike="noStrike"/>
          </a:p>
        </p:txBody>
      </p:sp>
      <p:sp>
        <p:nvSpPr>
          <p:cNvPr id="957" name="Google Shape;957;p135"/>
          <p:cNvSpPr/>
          <p:nvPr/>
        </p:nvSpPr>
        <p:spPr>
          <a:xfrm>
            <a:off x="6462936" y="2179737"/>
            <a:ext cx="19983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379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00"/>
              <a:buFont typeface="Barlow"/>
              <a:buNone/>
            </a:pPr>
            <a:r>
              <a:rPr b="0" i="0" lang="en" sz="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FHIR specification anticipates many complexities that arise in the healthcare domain, helping teams avoid costly backend rewrites and technical debt as requirements evolve.</a:t>
            </a:r>
            <a:endParaRPr b="0" i="0" sz="900" u="none" cap="none" strike="noStrike"/>
          </a:p>
        </p:txBody>
      </p:sp>
      <p:sp>
        <p:nvSpPr>
          <p:cNvPr id="958" name="Google Shape;958;p135"/>
          <p:cNvSpPr/>
          <p:nvPr/>
        </p:nvSpPr>
        <p:spPr>
          <a:xfrm>
            <a:off x="3979664" y="3391644"/>
            <a:ext cx="4613700" cy="1254300"/>
          </a:xfrm>
          <a:prstGeom prst="roundRect">
            <a:avLst>
              <a:gd fmla="val 14114" name="adj"/>
            </a:avLst>
          </a:prstGeom>
          <a:solidFill>
            <a:srgbClr val="0A081B"/>
          </a:solidFill>
          <a:ln cap="flat" cmpd="sng" w="14275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35"/>
          <p:cNvSpPr/>
          <p:nvPr/>
        </p:nvSpPr>
        <p:spPr>
          <a:xfrm>
            <a:off x="4111898" y="3523878"/>
            <a:ext cx="354000" cy="354000"/>
          </a:xfrm>
          <a:prstGeom prst="roundRect">
            <a:avLst>
              <a:gd fmla="val 16143023" name="adj"/>
            </a:avLst>
          </a:prstGeom>
          <a:solidFill>
            <a:srgbClr val="37A7E7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0" name="Google Shape;960;p1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09231" y="3621137"/>
            <a:ext cx="159321" cy="159321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135"/>
          <p:cNvSpPr/>
          <p:nvPr/>
        </p:nvSpPr>
        <p:spPr>
          <a:xfrm>
            <a:off x="4111898" y="3966344"/>
            <a:ext cx="13113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Spline Sans"/>
              <a:buNone/>
            </a:pPr>
            <a:r>
              <a:rPr b="1" i="0" lang="en" sz="10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Data Hygiene</a:t>
            </a:r>
            <a:endParaRPr b="0" i="0" sz="1000" u="none" cap="none" strike="noStrike"/>
          </a:p>
        </p:txBody>
      </p:sp>
      <p:sp>
        <p:nvSpPr>
          <p:cNvPr id="962" name="Google Shape;962;p135"/>
          <p:cNvSpPr/>
          <p:nvPr/>
        </p:nvSpPr>
        <p:spPr>
          <a:xfrm>
            <a:off x="4111898" y="4183261"/>
            <a:ext cx="4349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379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00"/>
              <a:buFont typeface="Barlow"/>
              <a:buNone/>
            </a:pPr>
            <a:r>
              <a:rPr b="0" i="0" lang="en" sz="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While FHIR has a steep learning curve up front, enforcing good data hygiene from the start makes compliance, reporting, and billing significantly easier down the line.</a:t>
            </a:r>
            <a:endParaRPr b="0" i="0" sz="9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36"/>
          <p:cNvSpPr txBox="1"/>
          <p:nvPr/>
        </p:nvSpPr>
        <p:spPr>
          <a:xfrm>
            <a:off x="219456" y="189875"/>
            <a:ext cx="53493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Why FHIR?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68" name="Google Shape;968;p136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136"/>
          <p:cNvSpPr txBox="1"/>
          <p:nvPr/>
        </p:nvSpPr>
        <p:spPr>
          <a:xfrm>
            <a:off x="205700" y="1428325"/>
            <a:ext cx="5669100" cy="3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Interoperability: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Increasingly, healthcare partners are exposing their data via FHIR APIs. Storing your data according to FHIR spec smooths the path to interoperating with multiple partner</a:t>
            </a:r>
            <a:r>
              <a:rPr lang="en" sz="1200">
                <a:solidFill>
                  <a:srgbClr val="1C1E21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Future Proof: 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The FHIR spec anticipates many of the complexities that arise in the healthcare domain, helping teams avoid these backend rewrites.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Data Hygiene: 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FHIR has a steep learning curve up front, but enforcing good data hygiene up front makes compliance, reporting, and billing much easier down the line.</a:t>
            </a:r>
            <a:endParaRPr sz="20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37"/>
          <p:cNvSpPr txBox="1"/>
          <p:nvPr/>
        </p:nvSpPr>
        <p:spPr>
          <a:xfrm>
            <a:off x="219456" y="189875"/>
            <a:ext cx="53493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Resources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75" name="Google Shape;975;p137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137"/>
          <p:cNvSpPr txBox="1"/>
          <p:nvPr/>
        </p:nvSpPr>
        <p:spPr>
          <a:xfrm>
            <a:off x="212550" y="1217050"/>
            <a:ext cx="5363100" cy="3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●"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Object Store: 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FHIR data is stored as JSON objects known as “resources”</a:t>
            </a:r>
            <a:endParaRPr baseline="30000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Resource Types: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150+ Resource Types 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represent a broad range of healthcare concepts:</a:t>
            </a:r>
            <a:endParaRPr sz="1500">
              <a:solidFill>
                <a:srgbClr val="1C1E2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○"/>
            </a:pP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Concrete entities ( </a:t>
            </a:r>
            <a:r>
              <a:rPr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Patient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, </a:t>
            </a:r>
            <a:r>
              <a:rPr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Medication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, </a:t>
            </a:r>
            <a:r>
              <a:rPr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Device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) </a:t>
            </a:r>
            <a:endParaRPr sz="1500">
              <a:solidFill>
                <a:srgbClr val="1C1E2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○"/>
            </a:pP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Abstract concepts ( </a:t>
            </a:r>
            <a:r>
              <a:rPr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Procedure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, </a:t>
            </a:r>
            <a:r>
              <a:rPr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Care Plan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, </a:t>
            </a:r>
            <a:r>
              <a:rPr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Encounter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)</a:t>
            </a:r>
            <a:endParaRPr sz="1500">
              <a:solidFill>
                <a:srgbClr val="1C1E2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C1E2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C1E21"/>
              </a:buClr>
              <a:buSzPts val="1500"/>
              <a:buFont typeface="Cairo"/>
              <a:buChar char="●"/>
            </a:pPr>
            <a:r>
              <a:rPr b="1"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Id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: All resources have an “id” field which serves as their unique identifier. </a:t>
            </a:r>
            <a:endParaRPr sz="1500">
              <a:solidFill>
                <a:srgbClr val="1C1E2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C1E2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C1E21"/>
              </a:buClr>
              <a:buSzPts val="1500"/>
              <a:buFont typeface="Cairo"/>
              <a:buChar char="●"/>
            </a:pPr>
            <a:r>
              <a:rPr b="1"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Medplum Resource Types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: Medplum extends the FHIR spec with its own resources types, primarily related to Auth and User administration</a:t>
            </a:r>
            <a:endParaRPr b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77" name="Google Shape;977;p137"/>
          <p:cNvSpPr txBox="1"/>
          <p:nvPr/>
        </p:nvSpPr>
        <p:spPr>
          <a:xfrm>
            <a:off x="6024200" y="1108800"/>
            <a:ext cx="2872800" cy="31299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"resourceType"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"Patient"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85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Unique id for this resource</a:t>
            </a:r>
            <a:endParaRPr i="1" sz="850">
              <a:solidFill>
                <a:srgbClr val="99998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"id"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"j_chalmers"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85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Patient Name (could have multiple)</a:t>
            </a:r>
            <a:endParaRPr i="1" sz="850">
              <a:solidFill>
                <a:srgbClr val="99998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"use"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"official"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"family"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"Chalmers"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"given"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"Peter"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"James"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],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85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Phone + email info</a:t>
            </a:r>
            <a:endParaRPr i="1" sz="850">
              <a:solidFill>
                <a:srgbClr val="99998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"telecom"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"system"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"phone"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"value"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"(03) 3410 5613"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"use"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"mobile"</a:t>
            </a:r>
            <a:endParaRPr sz="850">
              <a:solidFill>
                <a:srgbClr val="E3116C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],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5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//…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595959"/>
              </a:solidFill>
            </a:endParaRPr>
          </a:p>
        </p:txBody>
      </p:sp>
      <p:sp>
        <p:nvSpPr>
          <p:cNvPr id="978" name="Google Shape;978;p137"/>
          <p:cNvSpPr txBox="1"/>
          <p:nvPr/>
        </p:nvSpPr>
        <p:spPr>
          <a:xfrm>
            <a:off x="6330900" y="4747025"/>
            <a:ext cx="281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097A7"/>
                </a:solid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https://www.medplum.com/docs/fhir-basics#storing-data-resources</a:t>
            </a:r>
            <a:r>
              <a:rPr lang="en" sz="900"/>
              <a:t> 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38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Parsing Questionnaires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84" name="Google Shape;984;p138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138"/>
          <p:cNvPicPr preferRelativeResize="0"/>
          <p:nvPr/>
        </p:nvPicPr>
        <p:blipFill rotWithShape="1">
          <a:blip r:embed="rId4">
            <a:alphaModFix/>
          </a:blip>
          <a:srcRect b="37847" l="0" r="0" t="36653"/>
          <a:stretch/>
        </p:blipFill>
        <p:spPr>
          <a:xfrm>
            <a:off x="76200" y="1892149"/>
            <a:ext cx="8991600" cy="2511053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138"/>
          <p:cNvSpPr txBox="1"/>
          <p:nvPr/>
        </p:nvSpPr>
        <p:spPr>
          <a:xfrm>
            <a:off x="219450" y="914725"/>
            <a:ext cx="82983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Questionnaire: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FHIR representation of a form </a:t>
            </a:r>
            <a:endParaRPr b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QuestionnaireResponse: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a single instance of a response to a given Questionnaire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Best Practice: </a:t>
            </a:r>
            <a:r>
              <a:rPr b="1" i="1" lang="en" sz="1500">
                <a:solidFill>
                  <a:schemeClr val="accent2"/>
                </a:solidFill>
                <a:latin typeface="Cairo"/>
                <a:ea typeface="Cairo"/>
                <a:cs typeface="Cairo"/>
                <a:sym typeface="Cairo"/>
              </a:rPr>
              <a:t>Power workflows with FHIR clinical data, rather than bespoke Questionnaires </a:t>
            </a:r>
            <a:endParaRPr b="1" i="1" sz="1500">
              <a:solidFill>
                <a:schemeClr val="accent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39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Key Intake Assumptions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2" name="Google Shape;992;p139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139"/>
          <p:cNvSpPr txBox="1"/>
          <p:nvPr/>
        </p:nvSpPr>
        <p:spPr>
          <a:xfrm>
            <a:off x="220350" y="787975"/>
            <a:ext cx="3467100" cy="3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AutoNum type="arabicPeriod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Separate teams will own Intake Funnel and Clinical View.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AutoNum type="arabicPeriod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Intake Funnel team is responsible for normalization into a Main Questionnaire, on a per-vertical basis.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AutoNum type="alphaLcPeriod"/>
            </a:pPr>
            <a:r>
              <a:rPr i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Intake Funnel team will maintain client-specific intake inputs outside of Medplum.</a:t>
            </a:r>
            <a:endParaRPr i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AutoNum type="arabicPeriod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Main Questionnaire will match question to Openloop Concept ID.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AutoNum type="arabicPeriod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Clinical View team is responsible for parsing Main Questionnaire into data for clinical reasoning.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994" name="Google Shape;994;p139" title="Screenshot 2026-01-14 at 4.10.1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8950" y="817175"/>
            <a:ext cx="5152649" cy="342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40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Key Intake Assumptions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000" name="Google Shape;1000;p140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140"/>
          <p:cNvSpPr txBox="1"/>
          <p:nvPr/>
        </p:nvSpPr>
        <p:spPr>
          <a:xfrm>
            <a:off x="7184500" y="2265075"/>
            <a:ext cx="1706700" cy="18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Clinical View team is responsible for parsing Main Questionnaire into data for clinical reasoning.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002" name="Google Shape;1002;p140" title="Screenshot 2026-01-14 at 4.10.1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6875" y="952125"/>
            <a:ext cx="5152649" cy="3429115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140"/>
          <p:cNvSpPr txBox="1"/>
          <p:nvPr/>
        </p:nvSpPr>
        <p:spPr>
          <a:xfrm>
            <a:off x="5600600" y="95350"/>
            <a:ext cx="1706700" cy="8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Separate teams will own Intake Funnel and Clinical View.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04" name="Google Shape;1004;p140"/>
          <p:cNvSpPr txBox="1"/>
          <p:nvPr/>
        </p:nvSpPr>
        <p:spPr>
          <a:xfrm>
            <a:off x="219450" y="867813"/>
            <a:ext cx="1706700" cy="8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Intake Funnel team is responsible for normalization into a Main Questionnaire, on a per-vertical basis.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Intake Funnel team will maintain client-specific intake inputs outside of Medplum.</a:t>
            </a:r>
            <a:endParaRPr sz="10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05" name="Google Shape;1005;p140"/>
          <p:cNvSpPr txBox="1"/>
          <p:nvPr/>
        </p:nvSpPr>
        <p:spPr>
          <a:xfrm>
            <a:off x="3699825" y="4049150"/>
            <a:ext cx="1881900" cy="8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Main Questionnaire will map one question to one Openloop Concept ID.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41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Example Main Questionnaire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011" name="Google Shape;1011;p141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141"/>
          <p:cNvSpPr txBox="1"/>
          <p:nvPr/>
        </p:nvSpPr>
        <p:spPr>
          <a:xfrm>
            <a:off x="219450" y="699400"/>
            <a:ext cx="4188300" cy="40734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{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"resourceType": "Questionnaire",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</a:t>
            </a: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"name": "Main MWL Questionnaire",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"item": [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{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"id": "first-name",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</a:t>
            </a: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"linkId": "openloop-conceptid-001",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"text": "First Name",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"type": "string",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"required": true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},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{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"id": "dob",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</a:t>
            </a: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"linkId": "openloop-conceptid-050",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"text": "Date of Birth",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"type": "date"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},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{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"id": "height",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</a:t>
            </a: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"linkId": "openloop-conceptid-105",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"text": "Patient's Height (in inches)",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"type": "integer"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}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]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} 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013" name="Google Shape;1013;p141"/>
          <p:cNvSpPr txBox="1"/>
          <p:nvPr/>
        </p:nvSpPr>
        <p:spPr>
          <a:xfrm>
            <a:off x="4677225" y="750250"/>
            <a:ext cx="3977700" cy="3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linkId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ties individual questions to Openloop Concept ID’s 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Helps Clinical View team to ingest data in a consistent manner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A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llows questions to be compared between client-specific intake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Enforces data consistency across Intake Questionnaires in multiple verticals  by matching Concept ID’s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42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Storing Client-Specific Questionnaires 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019" name="Google Shape;1019;p142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142"/>
          <p:cNvSpPr txBox="1"/>
          <p:nvPr/>
        </p:nvSpPr>
        <p:spPr>
          <a:xfrm>
            <a:off x="219450" y="699400"/>
            <a:ext cx="3824100" cy="40734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{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"resourceType": "Questionnaire",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</a:t>
            </a: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"name": "Client A MWL Questionnaire",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"item": [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{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"id": "first-name",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"linkId": "openloop-conceptid-001",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"text": </a:t>
            </a: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"Tell me your first name!",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"type": "string",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"required": true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},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{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"id": "dob",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"linkId": "openloop-conceptid-050",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"text": </a:t>
            </a: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"When were you born?",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"type": "date"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},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{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"id": "height",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"linkId": "openloop-conceptid-105",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"text": </a:t>
            </a: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"How tall are you, in inches?",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"type": "integer"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}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]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} 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021" name="Google Shape;1021;p142"/>
          <p:cNvSpPr txBox="1"/>
          <p:nvPr/>
        </p:nvSpPr>
        <p:spPr>
          <a:xfrm>
            <a:off x="4975925" y="699400"/>
            <a:ext cx="3882600" cy="40734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{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"resourceType": "Questionnaire",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</a:t>
            </a: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"name": "Main MWL Questionnaire",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"item": [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{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"id": "first-name",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"linkId": "openloop-conceptid-001",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"text": </a:t>
            </a: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"First Name",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"type": "string",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"required": true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},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{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"id": "dob",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"linkId": "openloop-conceptid-050",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"text": </a:t>
            </a: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"Date of Birth",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"type": "date"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},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{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"id": "height",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"linkId": "openloop-conceptid-105",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"text": </a:t>
            </a: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"Patient's Height (in inches)",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"type": "integer"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}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]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} 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022" name="Google Shape;1022;p142"/>
          <p:cNvSpPr/>
          <p:nvPr/>
        </p:nvSpPr>
        <p:spPr>
          <a:xfrm>
            <a:off x="4101675" y="2542600"/>
            <a:ext cx="819000" cy="30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143"/>
          <p:cNvPicPr preferRelativeResize="0"/>
          <p:nvPr/>
        </p:nvPicPr>
        <p:blipFill rotWithShape="1">
          <a:blip r:embed="rId3">
            <a:alphaModFix/>
          </a:blip>
          <a:srcRect b="19452" l="0" r="0" t="0"/>
          <a:stretch/>
        </p:blipFill>
        <p:spPr>
          <a:xfrm>
            <a:off x="2161350" y="180103"/>
            <a:ext cx="6762299" cy="4635723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143"/>
          <p:cNvSpPr txBox="1"/>
          <p:nvPr/>
        </p:nvSpPr>
        <p:spPr>
          <a:xfrm>
            <a:off x="5253600" y="4763400"/>
            <a:ext cx="38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https://www.medplum.com/docs/fhir-basics</a:t>
            </a:r>
            <a:endParaRPr/>
          </a:p>
        </p:txBody>
      </p:sp>
      <p:pic>
        <p:nvPicPr>
          <p:cNvPr id="1029" name="Google Shape;1029;p143" title="medplum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143"/>
          <p:cNvSpPr txBox="1"/>
          <p:nvPr/>
        </p:nvSpPr>
        <p:spPr>
          <a:xfrm>
            <a:off x="212550" y="227325"/>
            <a:ext cx="1948800" cy="42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Medplum Architecture</a:t>
            </a:r>
            <a:endParaRPr b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44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Comparing Intake Across Verticals</a:t>
            </a: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036" name="Google Shape;1036;p144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144"/>
          <p:cNvSpPr txBox="1"/>
          <p:nvPr/>
        </p:nvSpPr>
        <p:spPr>
          <a:xfrm>
            <a:off x="219450" y="699400"/>
            <a:ext cx="3824100" cy="40734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{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"resourceType": "Questionnaire",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</a:t>
            </a: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"name": "MWL Questionnaire",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"item": [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</a:t>
            </a: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{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"id": "weight",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"linkId": "openloop-conceptid-106",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"text": "Patient’s weight (in pounds)",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"type": "decimal"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},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{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"id": "using-glp1",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"linkId": "openloop-conceptid-215",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"text": "Currently using a GLP-1",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"type": "choice" // GLP-1 list or None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},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{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"id": "</a:t>
            </a:r>
            <a:r>
              <a:rPr lang="en" sz="1050">
                <a:solidFill>
                  <a:srgbClr val="FF0000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mwl-comorbidities</a:t>
            </a: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"linkId": "openloop-conceptid-110",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"text": "Comorbidities",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"type": "choice" // comorbidities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}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]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} 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038" name="Google Shape;1038;p144"/>
          <p:cNvSpPr txBox="1"/>
          <p:nvPr/>
        </p:nvSpPr>
        <p:spPr>
          <a:xfrm>
            <a:off x="4975925" y="699400"/>
            <a:ext cx="3882600" cy="40734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{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"resourceType": "Questionnaire",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</a:t>
            </a: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"name": "TRT Questionnaire",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"item": [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{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"id": "libido",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"linkId": "openloop-conceptid-616",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"text": "Noticed change in libido",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"type": "boolean"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},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</a:t>
            </a: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{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"id": "weight",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"linkId": "openloop-conceptid-106",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"text": "Patient's weight (in pounds)",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"type": "decimal"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3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},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{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"id": "</a:t>
            </a:r>
            <a:r>
              <a:rPr lang="en" sz="1050">
                <a:solidFill>
                  <a:srgbClr val="FF0000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trt-comorbidities</a:t>
            </a: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"linkId": "openloop-conceptid-110",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"text": "Comorbidities",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"type": "choice" //comorbidities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}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]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} 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145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Comparing Intake Across Verticals 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044" name="Google Shape;1044;p145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145"/>
          <p:cNvSpPr txBox="1"/>
          <p:nvPr/>
        </p:nvSpPr>
        <p:spPr>
          <a:xfrm>
            <a:off x="219450" y="699400"/>
            <a:ext cx="3824100" cy="12726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{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"id": "</a:t>
            </a:r>
            <a:r>
              <a:rPr lang="en" sz="1050">
                <a:solidFill>
                  <a:srgbClr val="FF0000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mwl-comorbidities</a:t>
            </a: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"linkId": "openloop-conceptid-110",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"text": "Comorbidities",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"type": "choice" // comorbidities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  <a:endParaRPr sz="10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046" name="Google Shape;1046;p145"/>
          <p:cNvSpPr txBox="1"/>
          <p:nvPr/>
        </p:nvSpPr>
        <p:spPr>
          <a:xfrm>
            <a:off x="4975925" y="699400"/>
            <a:ext cx="3882600" cy="12726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{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"id": "</a:t>
            </a:r>
            <a:r>
              <a:rPr lang="en" sz="1050">
                <a:solidFill>
                  <a:srgbClr val="FF0000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trt-comorbidities</a:t>
            </a: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"linkId": "openloop-conceptid-110",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"text": "Comorbidities",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"type": "choice" //comorbidities</a:t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  <a:endParaRPr sz="1050">
              <a:solidFill>
                <a:schemeClr val="accent3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047" name="Google Shape;1047;p145"/>
          <p:cNvSpPr txBox="1"/>
          <p:nvPr/>
        </p:nvSpPr>
        <p:spPr>
          <a:xfrm>
            <a:off x="220350" y="2144375"/>
            <a:ext cx="8703300" cy="26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What happens if the relevant comorbidities list is different between verticals? </a:t>
            </a:r>
            <a:endParaRPr b="1" sz="20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-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If patient fills out intake for two vertical at the same time, one may risk either having patient enter duplicate data (failure to complete), or not having complete data (clinical risk).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Recommendation: </a:t>
            </a:r>
            <a:r>
              <a:rPr b="1" i="1" lang="en" sz="1800">
                <a:solidFill>
                  <a:schemeClr val="accent1"/>
                </a:solidFill>
                <a:latin typeface="Cairo"/>
                <a:ea typeface="Cairo"/>
                <a:cs typeface="Cairo"/>
                <a:sym typeface="Cairo"/>
              </a:rPr>
              <a:t>E</a:t>
            </a:r>
            <a:r>
              <a:rPr b="1" i="1" lang="en" sz="1800">
                <a:solidFill>
                  <a:schemeClr val="accent1"/>
                </a:solidFill>
                <a:latin typeface="Cairo"/>
                <a:ea typeface="Cairo"/>
                <a:cs typeface="Cairo"/>
                <a:sym typeface="Cairo"/>
              </a:rPr>
              <a:t>ach Openloop Concept ID corresponds to an atomic amount of data. </a:t>
            </a:r>
            <a:endParaRPr b="1" i="1" sz="1800">
              <a:solidFill>
                <a:schemeClr val="accent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-"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Atomic: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smallest complete piece of data (i.e. has hypertension, does not have kidney disease)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-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If an existing patient wants medication from a new vertical, FHIR clinical data can power prefilling intake because each part of intake corresponds to an atomic amount of data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46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Medplum Recommendations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053" name="Google Shape;1053;p146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146"/>
          <p:cNvSpPr txBox="1"/>
          <p:nvPr/>
        </p:nvSpPr>
        <p:spPr>
          <a:xfrm>
            <a:off x="220350" y="787975"/>
            <a:ext cx="8412900" cy="3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AutoNum type="arabicPeriod"/>
            </a:pP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Create a Main Questionnaire per vertical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AutoNum type="alphaLcPeriod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Clear </a:t>
            </a: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handoff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between Intake Funnel team and Clinical View teams.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AutoNum type="arabicPeriod"/>
            </a:pP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Create client-specific Questionnaires in Medplum </a:t>
            </a:r>
            <a:endParaRPr b="1"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AutoNum type="alphaLcPeriod"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Tracing: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source-of-truth data is stored in Medplum.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AutoNum type="alphaLcPeriod"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Replay: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if parsing changes, translation of client-specific to main Questionnaire can be replayed via API.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AutoNum type="alphaLcPeriod"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Infrastructure: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Bots and Subscriptions handled by Medplum, Bot code can be checked in and deployed with source control and CI/CD.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AutoNum type="arabicPeriod"/>
            </a:pP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Review Concept ID’s to ensure each ID stores an atomic amount of data 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AutoNum type="alphaLcPeriod"/>
            </a:pPr>
            <a:r>
              <a:rPr lang="en" sz="16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Verticals can</a:t>
            </a:r>
            <a:r>
              <a:rPr b="1" lang="en" sz="16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share intake funnels. </a:t>
            </a:r>
            <a:endParaRPr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AutoNum type="alphaLcPeriod"/>
            </a:pPr>
            <a:r>
              <a:rPr lang="en" sz="16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Atomic data corresponds better to FHIR data, which can </a:t>
            </a:r>
            <a:r>
              <a:rPr b="1" lang="en" sz="16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power prefilled intake.</a:t>
            </a:r>
            <a:r>
              <a:rPr lang="en" sz="16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 </a:t>
            </a:r>
            <a:endParaRPr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dplum">
  <a:themeElements>
    <a:clrScheme name="White">
      <a:dk1>
        <a:srgbClr val="181818"/>
      </a:dk1>
      <a:lt1>
        <a:srgbClr val="FFFAE8"/>
      </a:lt1>
      <a:dk2>
        <a:srgbClr val="FFE999"/>
      </a:dk2>
      <a:lt2>
        <a:srgbClr val="FFBE67"/>
      </a:lt2>
      <a:accent1>
        <a:srgbClr val="560153"/>
      </a:accent1>
      <a:accent2>
        <a:srgbClr val="721F6F"/>
      </a:accent2>
      <a:accent3>
        <a:srgbClr val="C67DFF"/>
      </a:accent3>
      <a:accent4>
        <a:srgbClr val="EDDEFF"/>
      </a:accent4>
      <a:accent5>
        <a:srgbClr val="9EA9FD"/>
      </a:accent5>
      <a:accent6>
        <a:srgbClr val="D9DDF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edplum">
  <a:themeElements>
    <a:clrScheme name="White">
      <a:dk1>
        <a:srgbClr val="181818"/>
      </a:dk1>
      <a:lt1>
        <a:srgbClr val="FFFAE8"/>
      </a:lt1>
      <a:dk2>
        <a:srgbClr val="FFE999"/>
      </a:dk2>
      <a:lt2>
        <a:srgbClr val="FFBE67"/>
      </a:lt2>
      <a:accent1>
        <a:srgbClr val="560153"/>
      </a:accent1>
      <a:accent2>
        <a:srgbClr val="721F6F"/>
      </a:accent2>
      <a:accent3>
        <a:srgbClr val="C67DFF"/>
      </a:accent3>
      <a:accent4>
        <a:srgbClr val="EDDEFF"/>
      </a:accent4>
      <a:accent5>
        <a:srgbClr val="9EA9FD"/>
      </a:accent5>
      <a:accent6>
        <a:srgbClr val="D9DDF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Medplum">
  <a:themeElements>
    <a:clrScheme name="White">
      <a:dk1>
        <a:srgbClr val="181818"/>
      </a:dk1>
      <a:lt1>
        <a:srgbClr val="FFFAE8"/>
      </a:lt1>
      <a:dk2>
        <a:srgbClr val="FFE999"/>
      </a:dk2>
      <a:lt2>
        <a:srgbClr val="FFBE67"/>
      </a:lt2>
      <a:accent1>
        <a:srgbClr val="560153"/>
      </a:accent1>
      <a:accent2>
        <a:srgbClr val="721F6F"/>
      </a:accent2>
      <a:accent3>
        <a:srgbClr val="C67DFF"/>
      </a:accent3>
      <a:accent4>
        <a:srgbClr val="EDDEFF"/>
      </a:accent4>
      <a:accent5>
        <a:srgbClr val="9EA9FD"/>
      </a:accent5>
      <a:accent6>
        <a:srgbClr val="D9DDF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Medplum">
  <a:themeElements>
    <a:clrScheme name="White">
      <a:dk1>
        <a:srgbClr val="181818"/>
      </a:dk1>
      <a:lt1>
        <a:srgbClr val="FFFAE8"/>
      </a:lt1>
      <a:dk2>
        <a:srgbClr val="FFE999"/>
      </a:dk2>
      <a:lt2>
        <a:srgbClr val="FFBE67"/>
      </a:lt2>
      <a:accent1>
        <a:srgbClr val="560153"/>
      </a:accent1>
      <a:accent2>
        <a:srgbClr val="721F6F"/>
      </a:accent2>
      <a:accent3>
        <a:srgbClr val="C67DFF"/>
      </a:accent3>
      <a:accent4>
        <a:srgbClr val="EDDEFF"/>
      </a:accent4>
      <a:accent5>
        <a:srgbClr val="9EA9FD"/>
      </a:accent5>
      <a:accent6>
        <a:srgbClr val="D9DDF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Medplum">
  <a:themeElements>
    <a:clrScheme name="White">
      <a:dk1>
        <a:srgbClr val="181818"/>
      </a:dk1>
      <a:lt1>
        <a:srgbClr val="FFFAE8"/>
      </a:lt1>
      <a:dk2>
        <a:srgbClr val="FFE999"/>
      </a:dk2>
      <a:lt2>
        <a:srgbClr val="FFBE67"/>
      </a:lt2>
      <a:accent1>
        <a:srgbClr val="560153"/>
      </a:accent1>
      <a:accent2>
        <a:srgbClr val="721F6F"/>
      </a:accent2>
      <a:accent3>
        <a:srgbClr val="C67DFF"/>
      </a:accent3>
      <a:accent4>
        <a:srgbClr val="EDDEFF"/>
      </a:accent4>
      <a:accent5>
        <a:srgbClr val="9EA9FD"/>
      </a:accent5>
      <a:accent6>
        <a:srgbClr val="D9DDF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